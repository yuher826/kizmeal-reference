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81" r:id="rId2"/>
    <p:sldId id="282" r:id="rId3"/>
    <p:sldId id="283" r:id="rId4"/>
    <p:sldId id="284" r:id="rId5"/>
    <p:sldId id="285" r:id="rId6"/>
  </p:sldIdLst>
  <p:sldSz cx="7556500" cy="106807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A5A911D7-4F61-4865-8A33-073C18BA13D9}">
          <p14:sldIdLst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364">
          <p15:clr>
            <a:srgbClr val="A4A3A4"/>
          </p15:clr>
        </p15:guide>
        <p15:guide id="2" pos="23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F6F3"/>
    <a:srgbClr val="FDF9F8"/>
    <a:srgbClr val="F2EEE8"/>
    <a:srgbClr val="146152"/>
    <a:srgbClr val="A1D4C9"/>
    <a:srgbClr val="84B29C"/>
    <a:srgbClr val="FAF8F3"/>
    <a:srgbClr val="9CE2A3"/>
    <a:srgbClr val="D6E8D8"/>
    <a:srgbClr val="A7F1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34" autoAdjust="0"/>
    <p:restoredTop sz="94750"/>
  </p:normalViewPr>
  <p:slideViewPr>
    <p:cSldViewPr snapToGrid="0">
      <p:cViewPr>
        <p:scale>
          <a:sx n="100" d="100"/>
          <a:sy n="100" d="100"/>
        </p:scale>
        <p:origin x="1075" y="-51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E1B339A3-7EA6-1BBB-ECCF-BB6D2361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3A6B8B72-4744-7A6E-0C03-C33501126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0905643-B1C5-D325-D630-8121833B9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5752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E1B339A3-7EA6-1BBB-ECCF-BB6D2361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3A6B8B72-4744-7A6E-0C03-C33501126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0905643-B1C5-D325-D630-8121833B9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5752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E1B339A3-7EA6-1BBB-ECCF-BB6D2361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3A6B8B72-4744-7A6E-0C03-C33501126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0905643-B1C5-D325-D630-8121833B9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5752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E1B339A3-7EA6-1BBB-ECCF-BB6D2361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3A6B8B72-4744-7A6E-0C03-C33501126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0905643-B1C5-D325-D630-8121833B9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5752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E1B339A3-7EA6-1BBB-ECCF-BB6D2361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3A6B8B72-4744-7A6E-0C03-C33501126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0905643-B1C5-D325-D630-8121833B9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5752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9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1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5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5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F65150AF-4596-4A66-CD3F-6DE2FAC81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8B1EBBD9-9289-FC62-B4CF-5B850E272657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강남점</a:t>
            </a:r>
            <a:endParaRPr sz="1200" u="none" strike="noStrike" cap="none" dirty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DA316B92-80EB-FEF9-70BF-8631A6C281BD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altLang="ko-KR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JAN.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4881F631-7A79-012D-B237-9C42278673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1894444"/>
              </p:ext>
            </p:extLst>
          </p:nvPr>
        </p:nvGraphicFramePr>
        <p:xfrm>
          <a:off x="194988" y="1156204"/>
          <a:ext cx="7166525" cy="8604185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8050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딸기에는 비타민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C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가 많아서 몸속에서 우리를 보호하는 백혈구를 활성화시켜줘서 감기를 예방하고 면역력 강화에 도움을 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주고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항산화 성분도 들어 있어서 노화 방지에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효과적입니다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 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우엉은 장 건강을 개선시키고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혈당 상승을 완화시키는 효과가 있으며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우엉차로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먹으면  체내 독소 배출을 효과가 있고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배변활동에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도움이 됩니다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신정</a:t>
                      </a:r>
                      <a:endParaRPr lang="en-US" altLang="ko-KR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12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0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707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0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050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0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8050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10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8050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510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id="{EC93AF00-DC22-BB56-8B22-101F93D9276B}"/>
              </a:ext>
            </a:extLst>
          </p:cNvPr>
          <p:cNvGrpSpPr/>
          <p:nvPr/>
        </p:nvGrpSpPr>
        <p:grpSpPr>
          <a:xfrm>
            <a:off x="637928" y="1188961"/>
            <a:ext cx="5677110" cy="7133508"/>
            <a:chOff x="618003" y="1173463"/>
            <a:chExt cx="5677110" cy="7133508"/>
          </a:xfrm>
        </p:grpSpPr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18B9E23A-3707-8672-2225-EEC97DC66986}"/>
                </a:ext>
              </a:extLst>
            </p:cNvPr>
            <p:cNvSpPr txBox="1"/>
            <p:nvPr/>
          </p:nvSpPr>
          <p:spPr>
            <a:xfrm>
              <a:off x="4663768" y="117346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4A35F6D5-9607-8B8F-1115-D7690D6CF5F2}"/>
                </a:ext>
              </a:extLst>
            </p:cNvPr>
            <p:cNvSpPr txBox="1"/>
            <p:nvPr/>
          </p:nvSpPr>
          <p:spPr>
            <a:xfrm>
              <a:off x="6016472" y="117346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392B1BD8-D2A0-9B6F-5BC8-CB5F1013DB58}"/>
                </a:ext>
              </a:extLst>
            </p:cNvPr>
            <p:cNvSpPr txBox="1"/>
            <p:nvPr/>
          </p:nvSpPr>
          <p:spPr>
            <a:xfrm>
              <a:off x="634219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D408344B-C7CE-698F-C9A6-E587D0B117B4}"/>
                </a:ext>
              </a:extLst>
            </p:cNvPr>
            <p:cNvSpPr txBox="1"/>
            <p:nvPr/>
          </p:nvSpPr>
          <p:spPr>
            <a:xfrm>
              <a:off x="1983608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03092484-9E73-E2BE-E1C0-6668B0D181DE}"/>
                </a:ext>
              </a:extLst>
            </p:cNvPr>
            <p:cNvSpPr txBox="1"/>
            <p:nvPr/>
          </p:nvSpPr>
          <p:spPr>
            <a:xfrm>
              <a:off x="3323060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6559F7DD-D63C-348A-8B8D-2C736B39D386}"/>
                </a:ext>
              </a:extLst>
            </p:cNvPr>
            <p:cNvSpPr txBox="1"/>
            <p:nvPr/>
          </p:nvSpPr>
          <p:spPr>
            <a:xfrm>
              <a:off x="4673874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43093747-3D9B-BD0A-AC3A-06168949EC91}"/>
                </a:ext>
              </a:extLst>
            </p:cNvPr>
            <p:cNvSpPr txBox="1"/>
            <p:nvPr/>
          </p:nvSpPr>
          <p:spPr>
            <a:xfrm>
              <a:off x="6026578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FDC072F6-13FE-4843-FFC9-092BA00EBD51}"/>
                </a:ext>
              </a:extLst>
            </p:cNvPr>
            <p:cNvSpPr txBox="1"/>
            <p:nvPr/>
          </p:nvSpPr>
          <p:spPr>
            <a:xfrm>
              <a:off x="618003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B4131F68-E0ED-BDE4-BA1A-1597F5558EE4}"/>
                </a:ext>
              </a:extLst>
            </p:cNvPr>
            <p:cNvSpPr txBox="1"/>
            <p:nvPr/>
          </p:nvSpPr>
          <p:spPr>
            <a:xfrm>
              <a:off x="1967392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1BE968A1-3BCB-9F16-239C-782153549615}"/>
                </a:ext>
              </a:extLst>
            </p:cNvPr>
            <p:cNvSpPr txBox="1"/>
            <p:nvPr/>
          </p:nvSpPr>
          <p:spPr>
            <a:xfrm>
              <a:off x="3306844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0E4DB1CB-A427-4901-B884-069612D30EAC}"/>
                </a:ext>
              </a:extLst>
            </p:cNvPr>
            <p:cNvSpPr txBox="1"/>
            <p:nvPr/>
          </p:nvSpPr>
          <p:spPr>
            <a:xfrm>
              <a:off x="4657658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DEA1CCCB-AC8B-309A-FDB5-32E0C9B033D6}"/>
                </a:ext>
              </a:extLst>
            </p:cNvPr>
            <p:cNvSpPr txBox="1"/>
            <p:nvPr/>
          </p:nvSpPr>
          <p:spPr>
            <a:xfrm>
              <a:off x="6010362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AF3C1EB0-988C-CE85-48AD-F236CC8F1E51}"/>
                </a:ext>
              </a:extLst>
            </p:cNvPr>
            <p:cNvSpPr txBox="1"/>
            <p:nvPr/>
          </p:nvSpPr>
          <p:spPr>
            <a:xfrm>
              <a:off x="618003" y="63484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35626A06-8BD2-3283-6130-A0DB952BE74F}"/>
                </a:ext>
              </a:extLst>
            </p:cNvPr>
            <p:cNvSpPr txBox="1"/>
            <p:nvPr/>
          </p:nvSpPr>
          <p:spPr>
            <a:xfrm>
              <a:off x="1967392" y="63484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DF639095-0329-4306-6CA1-0E4B1741F1D5}"/>
                </a:ext>
              </a:extLst>
            </p:cNvPr>
            <p:cNvSpPr txBox="1"/>
            <p:nvPr/>
          </p:nvSpPr>
          <p:spPr>
            <a:xfrm>
              <a:off x="3306844" y="63484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F31F3CB8-7DF8-5C5B-CB2E-EFE3DF52F8F7}"/>
                </a:ext>
              </a:extLst>
            </p:cNvPr>
            <p:cNvSpPr txBox="1"/>
            <p:nvPr/>
          </p:nvSpPr>
          <p:spPr>
            <a:xfrm>
              <a:off x="4657658" y="63484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FCA024E8-5D03-F649-4E22-3060DE04D4EA}"/>
                </a:ext>
              </a:extLst>
            </p:cNvPr>
            <p:cNvSpPr txBox="1"/>
            <p:nvPr/>
          </p:nvSpPr>
          <p:spPr>
            <a:xfrm>
              <a:off x="6010362" y="63484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id="{5F0AA7B0-41DD-B4E0-87B5-4692EF6A96C5}"/>
                </a:ext>
              </a:extLst>
            </p:cNvPr>
            <p:cNvSpPr txBox="1"/>
            <p:nvPr/>
          </p:nvSpPr>
          <p:spPr>
            <a:xfrm>
              <a:off x="618761" y="807622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id="{CA2757B7-E4A3-749C-D03B-DE76D8933AB2}"/>
                </a:ext>
              </a:extLst>
            </p:cNvPr>
            <p:cNvSpPr txBox="1"/>
            <p:nvPr/>
          </p:nvSpPr>
          <p:spPr>
            <a:xfrm>
              <a:off x="1968150" y="807622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id="{91235EC8-27CA-BF43-DBC8-5DD41C54F3B2}"/>
                </a:ext>
              </a:extLst>
            </p:cNvPr>
            <p:cNvSpPr txBox="1"/>
            <p:nvPr/>
          </p:nvSpPr>
          <p:spPr>
            <a:xfrm>
              <a:off x="3307602" y="807622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60" name="Google Shape;60;p2">
              <a:extLst>
                <a:ext uri="{FF2B5EF4-FFF2-40B4-BE49-F238E27FC236}">
                  <a16:creationId xmlns:a16="http://schemas.microsoft.com/office/drawing/2014/main" id="{4B08D63E-EA01-830C-90F0-10634607E3DB}"/>
                </a:ext>
              </a:extLst>
            </p:cNvPr>
            <p:cNvSpPr txBox="1"/>
            <p:nvPr/>
          </p:nvSpPr>
          <p:spPr>
            <a:xfrm>
              <a:off x="4658416" y="807622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61" name="Google Shape;61;p2">
              <a:extLst>
                <a:ext uri="{FF2B5EF4-FFF2-40B4-BE49-F238E27FC236}">
                  <a16:creationId xmlns:a16="http://schemas.microsoft.com/office/drawing/2014/main" id="{8E15E237-9B95-F270-DB4D-CED0A37C056F}"/>
                </a:ext>
              </a:extLst>
            </p:cNvPr>
            <p:cNvSpPr txBox="1"/>
            <p:nvPr/>
          </p:nvSpPr>
          <p:spPr>
            <a:xfrm>
              <a:off x="6011120" y="807622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30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01FB386B-271F-A817-75B5-933530756B0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86FF7BF9-15AF-9E07-4248-9F47F4413DC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2D5F2B69-9F89-F4B8-4805-627F46B6E1B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CCB62724-4BFC-8E91-5AAB-ABCE6E84043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ED43A1DA-4A92-3B29-4F6A-9D87228501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851152C0-F975-B45B-1EA1-5BC499FD824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C3DC025C-15D9-533A-5F4A-A567C3A4E9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6BB4609-6B62-001F-7597-48C0CE2D8F8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D0BEC541-1DE3-B71C-834A-F0B282ADF50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B6584083-F53D-059C-7B98-C2860747F62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2F226531-0BF2-3BEA-5768-BD7A17B434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8127D34E-0997-04D1-F10D-77736638A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E603CD86-6B5E-D00E-5BE7-68B78C3108B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68470026-2627-C294-0226-502F39A2CD5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D6053ACB-A2F1-9A81-ADFD-E4E0F7FB7EC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6668A9CD-897A-DB99-7538-DC32E09E00F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1CC10D95-A7A2-DB16-50A2-BD7B4C5AD46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40CB646-D81F-9267-FC04-CB245A8B25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0030DB3-4FA9-1F2A-FEFD-7CF795E529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B755BAD3-FBDD-BDD0-2962-31C7DB2128E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D7D92EF8-44D8-6D82-3537-C0DF602EED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DAED767-92E3-DFFB-C7F6-9BCB08ED11C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99D1138F-495A-9783-BDD8-7FA64F5685A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063A9346-369C-FA78-56C9-6B5C5017D6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7E03D4DA-5DAA-14CE-C180-87B1B79388A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0AD78CBC-11A6-43BA-6EDB-F127467E2E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BCAB3DEC-1292-1EE3-46F4-98FC8A98FBB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8AB09736-CB0A-6AF8-0F77-9398C2C6E6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DACF3075-FFC4-0089-91C3-4C17C1CC57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2BA23D20-CB45-9833-6FD7-0D84B6CEA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99534736-C232-2680-22CA-F4AB7E528AD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AA01FB2A-0417-D43D-2AC1-B0C902A9CF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213158AC-5ABB-B92B-262D-3C31B54A21E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4BAEEB1C-4F4C-CCFC-B2E2-B5FBE83D41F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6391546F-7BAB-F4E7-90A5-71029C9022C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5FDD155D-A8A1-D1EE-DDB0-4107B033544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85F6BB9C-DD83-8ABB-FDDB-8C02D286B7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B170A80-4896-2EF7-06D4-ABF357F672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CEBDBDBA-4553-1389-E205-A9245EBA25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45B73E07-0EA8-BA4A-373B-8934B599777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0AFC6F6E-C3E4-BAF6-64CC-4818815005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330443C5-2FBC-09BF-1C92-FE6B5E9C5E0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F1A6AD3-9BD4-F618-519B-62302E8495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C16CA14-6E4E-E8EB-8D4A-332C424155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B85CEE91-C406-8921-8C14-74B06623B0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15E61038-BB3E-919C-FA7A-8C4B07A73F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E4448DB7-B80E-30D7-F5F3-999EEEED15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4B34A99E-E6D7-B327-EC69-86A3D3F04F4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57482840-218C-6406-4856-4019970AB08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797DED7A-84EF-7A1B-2302-CFF49D99BD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3DDB75E2-424F-9C6B-8FF4-D415A678298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BFF2DA01-EF7A-3656-BB65-15E23B0FC5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07C0D283-3DA6-ABD2-82C2-3C5958F0F0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580AD690-8F11-319D-7B58-015D3BD1311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2988F25E-394C-8288-2AA6-CAA9B504444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B442D486-B42D-DF80-9F01-CC0EF7A5F9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5C6820BA-65B7-7AF3-D1F4-4DDA9B0C4CC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0DE6AC02-68C2-AD68-2A06-BF59C0CA24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00B0943A-D7D2-3DBA-E886-D98E339A5F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A1841314-34E6-454A-9090-646C21BDF8B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7B7DE37-A8EF-AD2C-199C-803D849AD10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F0E82A24-28D2-F366-2855-5ED7774396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C9FAC4FE-FB1B-9B51-BDB6-AC9285EE60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AE6867FE-FB5C-049A-7A44-ABA4724ACEA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8329AE0F-7E4F-B8CF-8D11-048D9030A0F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007A3FFE-B7E2-8375-9780-26FD1DE391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4C78AA-B92F-F1BA-9021-188FAF8BC4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876AE43F-4854-72AA-E34B-E4CA49E6D5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856D2195-DC0A-1ADF-F6F2-35546FCF6C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45473D2-FB7B-AA86-D21B-384EFA65EED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DBAF2974-E388-F264-1599-52BE6C51300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5B1289B-2834-31FC-65D2-7F33CA2DB19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E62F016C-C2F5-103A-3DD0-1ADC1B4F65B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689396AA-90DF-630F-E051-6FDB2529CF7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6A1030CC-085F-0CCC-8E09-5D3308176B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0FE061F4-FC18-9916-3564-C5DDA765CA3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09801D96-A394-6720-7CF3-B431E5987C4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CECD3A2B-A673-5A99-76EF-316384F53A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0937263E-8391-B0F6-CF4B-2DD7BF48D02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2DAE30DF-871C-3D64-7907-228684DF78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1DCEDE5-4D14-1C85-08B0-891C160C01D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5F91D5A0-2CF9-2476-FD31-3AF3F736516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84F480D7-6448-46FE-0262-6E69240E4F3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9AD36D21-177A-7150-CEE3-A49A30C058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FB9D0BEC-9BAB-1E08-F8A3-78D383EE6C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8C424AB4-23A1-0C44-5852-0C728F00C00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CA8DCE30-2BA5-09AA-9675-48376E8D82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A1023A54-839F-50D1-BD31-A5ECBD5CC9A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311D3FC9-46D9-B2E8-430B-5F2B3FA40D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3A150521-3664-C0F0-881C-14A4CB23C7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B9884CBF-A31F-C239-6C61-429B6BBFD9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6133E80D-3CFF-7F6F-E090-2D8EA0989B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B506A47A-49C4-C5DE-3222-80871EBB65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1914FC07-5569-9BFB-08C0-FC43F75EB3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1DC77814-B71A-6A26-094F-5591054A70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85A39045-C626-6B16-64E1-3E655982FA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5389D781-F504-0A69-37D7-59DB896E6A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73BCB397-10B3-12CA-A586-EB528D00D8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B393E305-F3B0-2C5D-32B6-2F03E9A323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810C8C6D-0439-9429-A8A6-CDC9A8A2DA1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B5D84A4E-1E54-D3AA-E36E-9BAC9E43E3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290AE19F-DAF7-F293-8E00-74E4E975D71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F9E39FD-39CA-E40D-0FFB-55B5CF34A1C3}"/>
              </a:ext>
            </a:extLst>
          </p:cNvPr>
          <p:cNvGrpSpPr/>
          <p:nvPr/>
        </p:nvGrpSpPr>
        <p:grpSpPr>
          <a:xfrm>
            <a:off x="144368" y="9902358"/>
            <a:ext cx="7207767" cy="522280"/>
            <a:chOff x="144368" y="9964350"/>
            <a:chExt cx="7207767" cy="522280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22E76404-CB0D-F9E0-FD06-484D25D1EB3C}"/>
                </a:ext>
              </a:extLst>
            </p:cNvPr>
            <p:cNvSpPr/>
            <p:nvPr/>
          </p:nvSpPr>
          <p:spPr>
            <a:xfrm>
              <a:off x="1359655" y="9994187"/>
              <a:ext cx="5992480" cy="492443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*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원산지표시안내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: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쌀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국내산유기농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현미,흑미,찹쌀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국내산친환경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소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국내산육우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돼지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닭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오리고기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두부,콩비지,콩국수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콩-국내산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배추김치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배추-국내산,고춧가루-국내산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삼치,아귀,오징어,고등어,꽃게,패류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새우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베트남산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명태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러시아산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참치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원양산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가다랭이포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인도네시아산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 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*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위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식단은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식품수급에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따라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변경될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있습니다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.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Kizmeal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000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영양사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I 000000000@kizmeal.com I www.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Kizmeal.com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A9B90BA2-83C9-08FB-A8B3-B430FDCFD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68" y="9964350"/>
              <a:ext cx="1173298" cy="27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5D27688-1B74-74FF-AE6B-6A4841E38414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4" name="Google Shape;25;p2">
              <a:extLst>
                <a:ext uri="{FF2B5EF4-FFF2-40B4-BE49-F238E27FC236}">
                  <a16:creationId xmlns:a16="http://schemas.microsoft.com/office/drawing/2014/main" id="{538310EB-5586-3568-9C40-9C0647FAEF4A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" name="Google Shape;25;p2">
              <a:extLst>
                <a:ext uri="{FF2B5EF4-FFF2-40B4-BE49-F238E27FC236}">
                  <a16:creationId xmlns:a16="http://schemas.microsoft.com/office/drawing/2014/main" id="{35FAF6C6-0D5B-A290-6F8E-6AA4A7B38401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9D5C1DC6-40DC-2922-4E42-63A2049310DD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9407FFBE-602A-B73B-0AF2-C4F200E62A26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9" name="Google Shape;25;p2">
              <a:extLst>
                <a:ext uri="{FF2B5EF4-FFF2-40B4-BE49-F238E27FC236}">
                  <a16:creationId xmlns:a16="http://schemas.microsoft.com/office/drawing/2014/main" id="{733A2A1D-FE06-C4D2-618E-584834FFE682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1" name="Google Shape;26;p2">
              <a:extLst>
                <a:ext uri="{FF2B5EF4-FFF2-40B4-BE49-F238E27FC236}">
                  <a16:creationId xmlns:a16="http://schemas.microsoft.com/office/drawing/2014/main" id="{37CF0C72-B064-F671-096D-F5D180978286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9;p2">
              <a:extLst>
                <a:ext uri="{FF2B5EF4-FFF2-40B4-BE49-F238E27FC236}">
                  <a16:creationId xmlns:a16="http://schemas.microsoft.com/office/drawing/2014/main" id="{1D2D33BD-B8FD-9304-F51F-D6470EB4DE03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32;p2">
              <a:extLst>
                <a:ext uri="{FF2B5EF4-FFF2-40B4-BE49-F238E27FC236}">
                  <a16:creationId xmlns:a16="http://schemas.microsoft.com/office/drawing/2014/main" id="{A131742C-FA77-A6FE-1E7C-A60C20D63A8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35;p2">
              <a:extLst>
                <a:ext uri="{FF2B5EF4-FFF2-40B4-BE49-F238E27FC236}">
                  <a16:creationId xmlns:a16="http://schemas.microsoft.com/office/drawing/2014/main" id="{D726BEDB-246A-EB4F-75E9-549575330CFE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63;p2">
              <a:extLst>
                <a:ext uri="{FF2B5EF4-FFF2-40B4-BE49-F238E27FC236}">
                  <a16:creationId xmlns:a16="http://schemas.microsoft.com/office/drawing/2014/main" id="{2B2BFDD9-4950-AE9F-7271-4238832D111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4" name="그래픽 23">
            <a:extLst>
              <a:ext uri="{FF2B5EF4-FFF2-40B4-BE49-F238E27FC236}">
                <a16:creationId xmlns:a16="http://schemas.microsoft.com/office/drawing/2014/main" id="{4F61F16C-F2D7-7599-F15F-AF404C23E8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1006" y="1861098"/>
            <a:ext cx="886962" cy="654637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637928" y="1194081"/>
            <a:ext cx="1318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en-US" altLang="ko-KR" sz="1100" dirty="0">
                <a:solidFill>
                  <a:srgbClr val="146152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1</a:t>
            </a:r>
            <a:r>
              <a:rPr lang="ko-KR" altLang="en-US" sz="1100" dirty="0" smtClean="0">
                <a:solidFill>
                  <a:srgbClr val="146152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월의 추천 식재료</a:t>
            </a:r>
            <a:endParaRPr lang="en-US" altLang="ko-KR" sz="1100" dirty="0">
              <a:latin typeface="Pretendard" pitchFamily="50" charset="-127"/>
              <a:ea typeface="Pretendard" pitchFamily="50" charset="-127"/>
              <a:cs typeface="Pretendard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313" y="1188652"/>
            <a:ext cx="1384149" cy="1105295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302" y="1324886"/>
            <a:ext cx="1258576" cy="75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8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F65150AF-4596-4A66-CD3F-6DE2FAC81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8B1EBBD9-9289-FC62-B4CF-5B850E272657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강남점</a:t>
            </a:r>
            <a:endParaRPr sz="1200" u="none" strike="noStrike" cap="none" dirty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DA316B92-80EB-FEF9-70BF-8631A6C281BD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altLang="ko-KR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JAN.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4881F631-7A79-012D-B237-9C42278673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6828961"/>
              </p:ext>
            </p:extLst>
          </p:nvPr>
        </p:nvGraphicFramePr>
        <p:xfrm>
          <a:off x="194988" y="1156203"/>
          <a:ext cx="7166525" cy="8660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딸기에는 비타민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C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가 많아서 몸속에서 우리를 보호하는 백혈구를 활성화시켜줘서 감기를 예방하고 면역력 강화에 도움을 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주고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항산화 성분도 들어 있어서 노화 방지에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효과적입니다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 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우엉은 장 건강을 개선시키고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혈당 상승을 완화시키는 효과가 있으며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우엉차로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먹으면  체내 독소 배출을 효과가 있고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배변활동에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도움이 됩니다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신정</a:t>
                      </a:r>
                      <a:endParaRPr lang="en-US" altLang="ko-KR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12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oogle Shape;36;p2">
            <a:extLst>
              <a:ext uri="{FF2B5EF4-FFF2-40B4-BE49-F238E27FC236}">
                <a16:creationId xmlns:a16="http://schemas.microsoft.com/office/drawing/2014/main" id="{EC93AF00-DC22-BB56-8B22-101F93D9276B}"/>
              </a:ext>
            </a:extLst>
          </p:cNvPr>
          <p:cNvGrpSpPr/>
          <p:nvPr/>
        </p:nvGrpSpPr>
        <p:grpSpPr>
          <a:xfrm>
            <a:off x="637928" y="1173476"/>
            <a:ext cx="5677110" cy="7176071"/>
            <a:chOff x="618003" y="1157978"/>
            <a:chExt cx="5677110" cy="7176071"/>
          </a:xfrm>
        </p:grpSpPr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18B9E23A-3707-8672-2225-EEC97DC66986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4A35F6D5-9607-8B8F-1115-D7690D6CF5F2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392B1BD8-D2A0-9B6F-5BC8-CB5F1013DB58}"/>
                </a:ext>
              </a:extLst>
            </p:cNvPr>
            <p:cNvSpPr txBox="1"/>
            <p:nvPr/>
          </p:nvSpPr>
          <p:spPr>
            <a:xfrm>
              <a:off x="634219" y="29025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D408344B-C7CE-698F-C9A6-E587D0B117B4}"/>
                </a:ext>
              </a:extLst>
            </p:cNvPr>
            <p:cNvSpPr txBox="1"/>
            <p:nvPr/>
          </p:nvSpPr>
          <p:spPr>
            <a:xfrm>
              <a:off x="1983608" y="29001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03092484-9E73-E2BE-E1C0-6668B0D181DE}"/>
                </a:ext>
              </a:extLst>
            </p:cNvPr>
            <p:cNvSpPr txBox="1"/>
            <p:nvPr/>
          </p:nvSpPr>
          <p:spPr>
            <a:xfrm>
              <a:off x="3323060" y="28983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6559F7DD-D63C-348A-8B8D-2C736B39D386}"/>
                </a:ext>
              </a:extLst>
            </p:cNvPr>
            <p:cNvSpPr txBox="1"/>
            <p:nvPr/>
          </p:nvSpPr>
          <p:spPr>
            <a:xfrm>
              <a:off x="4673874" y="28983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43093747-3D9B-BD0A-AC3A-06168949EC91}"/>
                </a:ext>
              </a:extLst>
            </p:cNvPr>
            <p:cNvSpPr txBox="1"/>
            <p:nvPr/>
          </p:nvSpPr>
          <p:spPr>
            <a:xfrm>
              <a:off x="6026578" y="289598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FDC072F6-13FE-4843-FFC9-092BA00EBD51}"/>
                </a:ext>
              </a:extLst>
            </p:cNvPr>
            <p:cNvSpPr txBox="1"/>
            <p:nvPr/>
          </p:nvSpPr>
          <p:spPr>
            <a:xfrm>
              <a:off x="618003" y="463515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B4131F68-E0ED-BDE4-BA1A-1597F5558EE4}"/>
                </a:ext>
              </a:extLst>
            </p:cNvPr>
            <p:cNvSpPr txBox="1"/>
            <p:nvPr/>
          </p:nvSpPr>
          <p:spPr>
            <a:xfrm>
              <a:off x="1967392" y="46327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1BE968A1-3BCB-9F16-239C-782153549615}"/>
                </a:ext>
              </a:extLst>
            </p:cNvPr>
            <p:cNvSpPr txBox="1"/>
            <p:nvPr/>
          </p:nvSpPr>
          <p:spPr>
            <a:xfrm>
              <a:off x="3306844" y="46310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0E4DB1CB-A427-4901-B884-069612D30EAC}"/>
                </a:ext>
              </a:extLst>
            </p:cNvPr>
            <p:cNvSpPr txBox="1"/>
            <p:nvPr/>
          </p:nvSpPr>
          <p:spPr>
            <a:xfrm>
              <a:off x="4657658" y="46310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DEA1CCCB-AC8B-309A-FDB5-32E0C9B033D6}"/>
                </a:ext>
              </a:extLst>
            </p:cNvPr>
            <p:cNvSpPr txBox="1"/>
            <p:nvPr/>
          </p:nvSpPr>
          <p:spPr>
            <a:xfrm>
              <a:off x="6010362" y="462862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AF3C1EB0-988C-CE85-48AD-F236CC8F1E51}"/>
                </a:ext>
              </a:extLst>
            </p:cNvPr>
            <p:cNvSpPr txBox="1"/>
            <p:nvPr/>
          </p:nvSpPr>
          <p:spPr>
            <a:xfrm>
              <a:off x="618003" y="63628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35626A06-8BD2-3283-6130-A0DB952BE74F}"/>
                </a:ext>
              </a:extLst>
            </p:cNvPr>
            <p:cNvSpPr txBox="1"/>
            <p:nvPr/>
          </p:nvSpPr>
          <p:spPr>
            <a:xfrm>
              <a:off x="1967392" y="63604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DF639095-0329-4306-6CA1-0E4B1741F1D5}"/>
                </a:ext>
              </a:extLst>
            </p:cNvPr>
            <p:cNvSpPr txBox="1"/>
            <p:nvPr/>
          </p:nvSpPr>
          <p:spPr>
            <a:xfrm>
              <a:off x="3306844" y="635867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F31F3CB8-7DF8-5C5B-CB2E-EFE3DF52F8F7}"/>
                </a:ext>
              </a:extLst>
            </p:cNvPr>
            <p:cNvSpPr txBox="1"/>
            <p:nvPr/>
          </p:nvSpPr>
          <p:spPr>
            <a:xfrm>
              <a:off x="4657658" y="635867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FCA024E8-5D03-F649-4E22-3060DE04D4EA}"/>
                </a:ext>
              </a:extLst>
            </p:cNvPr>
            <p:cNvSpPr txBox="1"/>
            <p:nvPr/>
          </p:nvSpPr>
          <p:spPr>
            <a:xfrm>
              <a:off x="6010362" y="635628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id="{5F0AA7B0-41DD-B4E0-87B5-4692EF6A96C5}"/>
                </a:ext>
              </a:extLst>
            </p:cNvPr>
            <p:cNvSpPr txBox="1"/>
            <p:nvPr/>
          </p:nvSpPr>
          <p:spPr>
            <a:xfrm>
              <a:off x="618761" y="81033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id="{CA2757B7-E4A3-749C-D03B-DE76D8933AB2}"/>
                </a:ext>
              </a:extLst>
            </p:cNvPr>
            <p:cNvSpPr txBox="1"/>
            <p:nvPr/>
          </p:nvSpPr>
          <p:spPr>
            <a:xfrm>
              <a:off x="1968150" y="810094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id="{91235EC8-27CA-BF43-DBC8-5DD41C54F3B2}"/>
                </a:ext>
              </a:extLst>
            </p:cNvPr>
            <p:cNvSpPr txBox="1"/>
            <p:nvPr/>
          </p:nvSpPr>
          <p:spPr>
            <a:xfrm>
              <a:off x="3307602" y="80991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60" name="Google Shape;60;p2">
              <a:extLst>
                <a:ext uri="{FF2B5EF4-FFF2-40B4-BE49-F238E27FC236}">
                  <a16:creationId xmlns:a16="http://schemas.microsoft.com/office/drawing/2014/main" id="{4B08D63E-EA01-830C-90F0-10634607E3DB}"/>
                </a:ext>
              </a:extLst>
            </p:cNvPr>
            <p:cNvSpPr txBox="1"/>
            <p:nvPr/>
          </p:nvSpPr>
          <p:spPr>
            <a:xfrm>
              <a:off x="4658416" y="80991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61" name="Google Shape;61;p2">
              <a:extLst>
                <a:ext uri="{FF2B5EF4-FFF2-40B4-BE49-F238E27FC236}">
                  <a16:creationId xmlns:a16="http://schemas.microsoft.com/office/drawing/2014/main" id="{8E15E237-9B95-F270-DB4D-CED0A37C056F}"/>
                </a:ext>
              </a:extLst>
            </p:cNvPr>
            <p:cNvSpPr txBox="1"/>
            <p:nvPr/>
          </p:nvSpPr>
          <p:spPr>
            <a:xfrm>
              <a:off x="6011120" y="80967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30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3" name="Google Shape;64;p2">
            <a:extLst>
              <a:ext uri="{FF2B5EF4-FFF2-40B4-BE49-F238E27FC236}">
                <a16:creationId xmlns:a16="http://schemas.microsoft.com/office/drawing/2014/main" id="{01FB386B-271F-A817-75B5-933530756B0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4" name="Google Shape;65;p2">
              <a:extLst>
                <a:ext uri="{FF2B5EF4-FFF2-40B4-BE49-F238E27FC236}">
                  <a16:creationId xmlns:a16="http://schemas.microsoft.com/office/drawing/2014/main" id="{86FF7BF9-15AF-9E07-4248-9F47F4413DC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2D5F2B69-9F89-F4B8-4805-627F46B6E1B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CCB62724-4BFC-8E91-5AAB-ABCE6E84043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ED43A1DA-4A92-3B29-4F6A-9D87228501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851152C0-F975-B45B-1EA1-5BC499FD824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C3DC025C-15D9-533A-5F4A-A567C3A4E9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6BB4609-6B62-001F-7597-48C0CE2D8F8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D0BEC541-1DE3-B71C-834A-F0B282ADF50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B6584083-F53D-059C-7B98-C2860747F62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2F226531-0BF2-3BEA-5768-BD7A17B434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8127D34E-0997-04D1-F10D-77736638A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E603CD86-6B5E-D00E-5BE7-68B78C3108B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68470026-2627-C294-0226-502F39A2CD5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D6053ACB-A2F1-9A81-ADFD-E4E0F7FB7EC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6668A9CD-897A-DB99-7538-DC32E09E00F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1CC10D95-A7A2-DB16-50A2-BD7B4C5AD46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id="{D40CB646-D81F-9267-FC04-CB245A8B25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0030DB3-4FA9-1F2A-FEFD-7CF795E529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B755BAD3-FBDD-BDD0-2962-31C7DB2128E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D7D92EF8-44D8-6D82-3537-C0DF602EED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DAED767-92E3-DFFB-C7F6-9BCB08ED11C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99D1138F-495A-9783-BDD8-7FA64F5685A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063A9346-369C-FA78-56C9-6B5C5017D6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7E03D4DA-5DAA-14CE-C180-87B1B79388A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0AD78CBC-11A6-43BA-6EDB-F127467E2E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BCAB3DEC-1292-1EE3-46F4-98FC8A98FBB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8AB09736-CB0A-6AF8-0F77-9398C2C6E6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92;p2">
              <a:extLst>
                <a:ext uri="{FF2B5EF4-FFF2-40B4-BE49-F238E27FC236}">
                  <a16:creationId xmlns:a16="http://schemas.microsoft.com/office/drawing/2014/main" id="{DACF3075-FFC4-0089-91C3-4C17C1CC57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2BA23D20-CB45-9833-6FD7-0D84B6CEA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99534736-C232-2680-22CA-F4AB7E528AD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AA01FB2A-0417-D43D-2AC1-B0C902A9CF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213158AC-5ABB-B92B-262D-3C31B54A21E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4BAEEB1C-4F4C-CCFC-B2E2-B5FBE83D41F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6391546F-7BAB-F4E7-90A5-71029C9022C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5FDD155D-A8A1-D1EE-DDB0-4107B033544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85F6BB9C-DD83-8ABB-FDDB-8C02D286B7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B170A80-4896-2EF7-06D4-ABF357F672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CEBDBDBA-4553-1389-E205-A9245EBA25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45B73E07-0EA8-BA4A-373B-8934B599777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0AFC6F6E-C3E4-BAF6-64CC-4818815005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330443C5-2FBC-09BF-1C92-FE6B5E9C5E0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F1A6AD3-9BD4-F618-519B-62302E8495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C16CA14-6E4E-E8EB-8D4A-332C424155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B85CEE91-C406-8921-8C14-74B06623B0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15E61038-BB3E-919C-FA7A-8C4B07A73F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E4448DB7-B80E-30D7-F5F3-999EEEED15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4B34A99E-E6D7-B327-EC69-86A3D3F04F4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12;p2">
              <a:extLst>
                <a:ext uri="{FF2B5EF4-FFF2-40B4-BE49-F238E27FC236}">
                  <a16:creationId xmlns:a16="http://schemas.microsoft.com/office/drawing/2014/main" id="{57482840-218C-6406-4856-4019970AB08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797DED7A-84EF-7A1B-2302-CFF49D99BD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3DDB75E2-424F-9C6B-8FF4-D415A678298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BFF2DA01-EF7A-3656-BB65-15E23B0FC5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07C0D283-3DA6-ABD2-82C2-3C5958F0F0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580AD690-8F11-319D-7B58-015D3BD1311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2988F25E-394C-8288-2AA6-CAA9B504444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B442D486-B42D-DF80-9F01-CC0EF7A5F9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5C6820BA-65B7-7AF3-D1F4-4DDA9B0C4CC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0DE6AC02-68C2-AD68-2A06-BF59C0CA24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00B0943A-D7D2-3DBA-E886-D98E339A5F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A1841314-34E6-454A-9090-646C21BDF8B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7B7DE37-A8EF-AD2C-199C-803D849AD10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F0E82A24-28D2-F366-2855-5ED7774396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C9FAC4FE-FB1B-9B51-BDB6-AC9285EE60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AE6867FE-FB5C-049A-7A44-ABA4724ACEA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28;p2">
              <a:extLst>
                <a:ext uri="{FF2B5EF4-FFF2-40B4-BE49-F238E27FC236}">
                  <a16:creationId xmlns:a16="http://schemas.microsoft.com/office/drawing/2014/main" id="{8329AE0F-7E4F-B8CF-8D11-048D9030A0F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007A3FFE-B7E2-8375-9780-26FD1DE391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4C78AA-B92F-F1BA-9021-188FAF8BC4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876AE43F-4854-72AA-E34B-E4CA49E6D5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856D2195-DC0A-1ADF-F6F2-35546FCF6C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45473D2-FB7B-AA86-D21B-384EFA65EED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DBAF2974-E388-F264-1599-52BE6C51300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5B1289B-2834-31FC-65D2-7F33CA2DB19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136;p2">
              <a:extLst>
                <a:ext uri="{FF2B5EF4-FFF2-40B4-BE49-F238E27FC236}">
                  <a16:creationId xmlns:a16="http://schemas.microsoft.com/office/drawing/2014/main" id="{E62F016C-C2F5-103A-3DD0-1ADC1B4F65B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689396AA-90DF-630F-E051-6FDB2529CF7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6A1030CC-085F-0CCC-8E09-5D3308176B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0FE061F4-FC18-9916-3564-C5DDA765CA3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09801D96-A394-6720-7CF3-B431E5987C4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CECD3A2B-A673-5A99-76EF-316384F53A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0937263E-8391-B0F6-CF4B-2DD7BF48D02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2DAE30DF-871C-3D64-7907-228684DF78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44;p2">
              <a:extLst>
                <a:ext uri="{FF2B5EF4-FFF2-40B4-BE49-F238E27FC236}">
                  <a16:creationId xmlns:a16="http://schemas.microsoft.com/office/drawing/2014/main" id="{41DCEDE5-4D14-1C85-08B0-891C160C01D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5F91D5A0-2CF9-2476-FD31-3AF3F736516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84F480D7-6448-46FE-0262-6E69240E4F3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9AD36D21-177A-7150-CEE3-A49A30C058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FB9D0BEC-9BAB-1E08-F8A3-78D383EE6C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8C424AB4-23A1-0C44-5852-0C728F00C00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CA8DCE30-2BA5-09AA-9675-48376E8D82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A1023A54-839F-50D1-BD31-A5ECBD5CC9A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311D3FC9-46D9-B2E8-430B-5F2B3FA40D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3A150521-3664-C0F0-881C-14A4CB23C7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B9884CBF-A31F-C239-6C61-429B6BBFD9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55;p2">
              <a:extLst>
                <a:ext uri="{FF2B5EF4-FFF2-40B4-BE49-F238E27FC236}">
                  <a16:creationId xmlns:a16="http://schemas.microsoft.com/office/drawing/2014/main" id="{6133E80D-3CFF-7F6F-E090-2D8EA0989B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B506A47A-49C4-C5DE-3222-80871EBB65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1914FC07-5569-9BFB-08C0-FC43F75EB3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1DC77814-B71A-6A26-094F-5591054A70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85A39045-C626-6B16-64E1-3E655982FA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5389D781-F504-0A69-37D7-59DB896E6A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73BCB397-10B3-12CA-A586-EB528D00D8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B393E305-F3B0-2C5D-32B6-2F03E9A323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810C8C6D-0439-9429-A8A6-CDC9A8A2DA1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B5D84A4E-1E54-D3AA-E36E-9BAC9E43E3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290AE19F-DAF7-F293-8E00-74E4E975D71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8" name="그룹 9">
            <a:extLst>
              <a:ext uri="{FF2B5EF4-FFF2-40B4-BE49-F238E27FC236}">
                <a16:creationId xmlns:a16="http://schemas.microsoft.com/office/drawing/2014/main" id="{7F9E39FD-39CA-E40D-0FFB-55B5CF34A1C3}"/>
              </a:ext>
            </a:extLst>
          </p:cNvPr>
          <p:cNvGrpSpPr/>
          <p:nvPr/>
        </p:nvGrpSpPr>
        <p:grpSpPr>
          <a:xfrm>
            <a:off x="144368" y="9902358"/>
            <a:ext cx="7207767" cy="522280"/>
            <a:chOff x="144368" y="9964350"/>
            <a:chExt cx="7207767" cy="522280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22E76404-CB0D-F9E0-FD06-484D25D1EB3C}"/>
                </a:ext>
              </a:extLst>
            </p:cNvPr>
            <p:cNvSpPr/>
            <p:nvPr/>
          </p:nvSpPr>
          <p:spPr>
            <a:xfrm>
              <a:off x="1359655" y="9994187"/>
              <a:ext cx="5992480" cy="492443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*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원산지표시안내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: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쌀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국내산유기농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현미,흑미,찹쌀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국내산친환경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소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국내산육우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돼지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닭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오리고기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두부,콩비지,콩국수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콩-국내산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배추김치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배추-국내산,고춧가루-국내산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삼치,아귀,오징어,고등어,꽃게,패류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새우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베트남산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명태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러시아산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참치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원양산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가다랭이포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인도네시아산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 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*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위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식단은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식품수급에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따라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변경될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있습니다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.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Kizmeal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000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영양사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I 000000000@kizmeal.com I www.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Kizmeal.com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A9B90BA2-83C9-08FB-A8B3-B430FDCFD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68" y="9964350"/>
              <a:ext cx="1173298" cy="27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" name="그래픽 5">
            <a:extLst>
              <a:ext uri="{FF2B5EF4-FFF2-40B4-BE49-F238E27FC236}">
                <a16:creationId xmlns:a16="http://schemas.microsoft.com/office/drawing/2014/main" id="{F15849A7-05CF-B666-7A97-3ABDA13B41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901006" y="1861098"/>
            <a:ext cx="886962" cy="654637"/>
          </a:xfrm>
          <a:prstGeom prst="rect">
            <a:avLst/>
          </a:prstGeom>
        </p:spPr>
      </p:pic>
      <p:grpSp>
        <p:nvGrpSpPr>
          <p:cNvPr id="29" name="그룹 2">
            <a:extLst>
              <a:ext uri="{FF2B5EF4-FFF2-40B4-BE49-F238E27FC236}">
                <a16:creationId xmlns:a16="http://schemas.microsoft.com/office/drawing/2014/main" id="{E8E41725-938A-ED70-2E69-B6FBC9EFABFE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388F9B70-3174-03D0-AF4D-4B1038672497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833E13F2-DB3D-784C-65D3-38E856C8A649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1E18AC9D-07BE-F7E2-4EE2-C1513D73DAEF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9E73F681-0356-9C45-B711-BA9E629048A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5;p2">
              <a:extLst>
                <a:ext uri="{FF2B5EF4-FFF2-40B4-BE49-F238E27FC236}">
                  <a16:creationId xmlns:a16="http://schemas.microsoft.com/office/drawing/2014/main" id="{98B806D3-814C-0CDB-9C7B-A265CE1E53B9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6;p2">
              <a:extLst>
                <a:ext uri="{FF2B5EF4-FFF2-40B4-BE49-F238E27FC236}">
                  <a16:creationId xmlns:a16="http://schemas.microsoft.com/office/drawing/2014/main" id="{046DE3AA-E1A1-205D-C477-D36794275278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29;p2">
              <a:extLst>
                <a:ext uri="{FF2B5EF4-FFF2-40B4-BE49-F238E27FC236}">
                  <a16:creationId xmlns:a16="http://schemas.microsoft.com/office/drawing/2014/main" id="{12B4FFA5-9BB6-DC2E-A5AD-6AD5640EE7DE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2;p2">
              <a:extLst>
                <a:ext uri="{FF2B5EF4-FFF2-40B4-BE49-F238E27FC236}">
                  <a16:creationId xmlns:a16="http://schemas.microsoft.com/office/drawing/2014/main" id="{0E3441C8-0BFA-14E7-CDF2-0139C7182E0B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35;p2">
              <a:extLst>
                <a:ext uri="{FF2B5EF4-FFF2-40B4-BE49-F238E27FC236}">
                  <a16:creationId xmlns:a16="http://schemas.microsoft.com/office/drawing/2014/main" id="{0A3E80C6-A7CD-6D5D-7E10-C50BC19E45FC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4" name="Google Shape;63;p2">
              <a:extLst>
                <a:ext uri="{FF2B5EF4-FFF2-40B4-BE49-F238E27FC236}">
                  <a16:creationId xmlns:a16="http://schemas.microsoft.com/office/drawing/2014/main" id="{C87CD128-81D9-95CC-A0F9-0E97B6442BA4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55" name="TextBox 154"/>
          <p:cNvSpPr txBox="1"/>
          <p:nvPr/>
        </p:nvSpPr>
        <p:spPr>
          <a:xfrm>
            <a:off x="684752" y="1194613"/>
            <a:ext cx="1318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en-US" altLang="ko-KR" sz="1100" dirty="0">
                <a:solidFill>
                  <a:srgbClr val="146152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1</a:t>
            </a:r>
            <a:r>
              <a:rPr lang="ko-KR" altLang="en-US" sz="1100" dirty="0" smtClean="0">
                <a:solidFill>
                  <a:srgbClr val="146152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월의 추천 식재료</a:t>
            </a:r>
            <a:endParaRPr lang="en-US" altLang="ko-KR" sz="1100" dirty="0">
              <a:latin typeface="Pretendard" pitchFamily="50" charset="-127"/>
              <a:ea typeface="Pretendard" pitchFamily="50" charset="-127"/>
              <a:cs typeface="Pretendard" pitchFamily="50" charset="-127"/>
            </a:endParaRP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302" y="1324886"/>
            <a:ext cx="1258576" cy="755219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313" y="1188652"/>
            <a:ext cx="1384149" cy="110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8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F65150AF-4596-4A66-CD3F-6DE2FAC81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DA316B92-80EB-FEF9-70BF-8631A6C281BD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altLang="ko-KR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JAN.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4881F631-7A79-012D-B237-9C42278673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1143456"/>
              </p:ext>
            </p:extLst>
          </p:nvPr>
        </p:nvGraphicFramePr>
        <p:xfrm>
          <a:off x="194988" y="1156203"/>
          <a:ext cx="7166525" cy="813061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딸기에는 비타민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C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가 많아서 몸속에서 우리를 보호하는 백혈구를 활성화시켜줘서 감기를 예방하고 면역력 강화에 도움을 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주고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항산화 성분도 들어 있어서 노화 방지에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효과적입니다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 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우엉은 장 건강을 개선시키고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혈당 상승을 완화시키는 효과가 있으며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우엉차로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먹으면  체내 독소 배출을 효과가 있고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배변활동에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도움이 됩니다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신정</a:t>
                      </a:r>
                      <a:endParaRPr lang="en-US" altLang="ko-KR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12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" name="Google Shape;36;p2">
            <a:extLst>
              <a:ext uri="{FF2B5EF4-FFF2-40B4-BE49-F238E27FC236}">
                <a16:creationId xmlns:a16="http://schemas.microsoft.com/office/drawing/2014/main" id="{EC93AF00-DC22-BB56-8B22-101F93D9276B}"/>
              </a:ext>
            </a:extLst>
          </p:cNvPr>
          <p:cNvGrpSpPr/>
          <p:nvPr/>
        </p:nvGrpSpPr>
        <p:grpSpPr>
          <a:xfrm>
            <a:off x="637928" y="1188961"/>
            <a:ext cx="5677110" cy="6735839"/>
            <a:chOff x="618003" y="1173463"/>
            <a:chExt cx="5677110" cy="6735839"/>
          </a:xfrm>
        </p:grpSpPr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18B9E23A-3707-8672-2225-EEC97DC66986}"/>
                </a:ext>
              </a:extLst>
            </p:cNvPr>
            <p:cNvSpPr txBox="1"/>
            <p:nvPr/>
          </p:nvSpPr>
          <p:spPr>
            <a:xfrm>
              <a:off x="4663768" y="117346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4A35F6D5-9607-8B8F-1115-D7690D6CF5F2}"/>
                </a:ext>
              </a:extLst>
            </p:cNvPr>
            <p:cNvSpPr txBox="1"/>
            <p:nvPr/>
          </p:nvSpPr>
          <p:spPr>
            <a:xfrm>
              <a:off x="6016472" y="117346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392B1BD8-D2A0-9B6F-5BC8-CB5F1013DB58}"/>
                </a:ext>
              </a:extLst>
            </p:cNvPr>
            <p:cNvSpPr txBox="1"/>
            <p:nvPr/>
          </p:nvSpPr>
          <p:spPr>
            <a:xfrm>
              <a:off x="634219" y="279923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D408344B-C7CE-698F-C9A6-E587D0B117B4}"/>
                </a:ext>
              </a:extLst>
            </p:cNvPr>
            <p:cNvSpPr txBox="1"/>
            <p:nvPr/>
          </p:nvSpPr>
          <p:spPr>
            <a:xfrm>
              <a:off x="1983608" y="279923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03092484-9E73-E2BE-E1C0-6668B0D181DE}"/>
                </a:ext>
              </a:extLst>
            </p:cNvPr>
            <p:cNvSpPr txBox="1"/>
            <p:nvPr/>
          </p:nvSpPr>
          <p:spPr>
            <a:xfrm>
              <a:off x="3323060" y="279923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6559F7DD-D63C-348A-8B8D-2C736B39D386}"/>
                </a:ext>
              </a:extLst>
            </p:cNvPr>
            <p:cNvSpPr txBox="1"/>
            <p:nvPr/>
          </p:nvSpPr>
          <p:spPr>
            <a:xfrm>
              <a:off x="4673874" y="279923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43093747-3D9B-BD0A-AC3A-06168949EC91}"/>
                </a:ext>
              </a:extLst>
            </p:cNvPr>
            <p:cNvSpPr txBox="1"/>
            <p:nvPr/>
          </p:nvSpPr>
          <p:spPr>
            <a:xfrm>
              <a:off x="6026578" y="279923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FDC072F6-13FE-4843-FFC9-092BA00EBD51}"/>
                </a:ext>
              </a:extLst>
            </p:cNvPr>
            <p:cNvSpPr txBox="1"/>
            <p:nvPr/>
          </p:nvSpPr>
          <p:spPr>
            <a:xfrm>
              <a:off x="618003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B4131F68-E0ED-BDE4-BA1A-1597F5558EE4}"/>
                </a:ext>
              </a:extLst>
            </p:cNvPr>
            <p:cNvSpPr txBox="1"/>
            <p:nvPr/>
          </p:nvSpPr>
          <p:spPr>
            <a:xfrm>
              <a:off x="1967392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1BE968A1-3BCB-9F16-239C-782153549615}"/>
                </a:ext>
              </a:extLst>
            </p:cNvPr>
            <p:cNvSpPr txBox="1"/>
            <p:nvPr/>
          </p:nvSpPr>
          <p:spPr>
            <a:xfrm>
              <a:off x="3306844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0E4DB1CB-A427-4901-B884-069612D30EAC}"/>
                </a:ext>
              </a:extLst>
            </p:cNvPr>
            <p:cNvSpPr txBox="1"/>
            <p:nvPr/>
          </p:nvSpPr>
          <p:spPr>
            <a:xfrm>
              <a:off x="4657658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DEA1CCCB-AC8B-309A-FDB5-32E0C9B033D6}"/>
                </a:ext>
              </a:extLst>
            </p:cNvPr>
            <p:cNvSpPr txBox="1"/>
            <p:nvPr/>
          </p:nvSpPr>
          <p:spPr>
            <a:xfrm>
              <a:off x="6010362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AF3C1EB0-988C-CE85-48AD-F236CC8F1E51}"/>
                </a:ext>
              </a:extLst>
            </p:cNvPr>
            <p:cNvSpPr txBox="1"/>
            <p:nvPr/>
          </p:nvSpPr>
          <p:spPr>
            <a:xfrm>
              <a:off x="618003" y="605077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35626A06-8BD2-3283-6130-A0DB952BE74F}"/>
                </a:ext>
              </a:extLst>
            </p:cNvPr>
            <p:cNvSpPr txBox="1"/>
            <p:nvPr/>
          </p:nvSpPr>
          <p:spPr>
            <a:xfrm>
              <a:off x="1967392" y="605077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DF639095-0329-4306-6CA1-0E4B1741F1D5}"/>
                </a:ext>
              </a:extLst>
            </p:cNvPr>
            <p:cNvSpPr txBox="1"/>
            <p:nvPr/>
          </p:nvSpPr>
          <p:spPr>
            <a:xfrm>
              <a:off x="3306844" y="605077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F31F3CB8-7DF8-5C5B-CB2E-EFE3DF52F8F7}"/>
                </a:ext>
              </a:extLst>
            </p:cNvPr>
            <p:cNvSpPr txBox="1"/>
            <p:nvPr/>
          </p:nvSpPr>
          <p:spPr>
            <a:xfrm>
              <a:off x="4657658" y="605077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FCA024E8-5D03-F649-4E22-3060DE04D4EA}"/>
                </a:ext>
              </a:extLst>
            </p:cNvPr>
            <p:cNvSpPr txBox="1"/>
            <p:nvPr/>
          </p:nvSpPr>
          <p:spPr>
            <a:xfrm>
              <a:off x="6010362" y="605077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id="{5F0AA7B0-41DD-B4E0-87B5-4692EF6A96C5}"/>
                </a:ext>
              </a:extLst>
            </p:cNvPr>
            <p:cNvSpPr txBox="1"/>
            <p:nvPr/>
          </p:nvSpPr>
          <p:spPr>
            <a:xfrm>
              <a:off x="618761" y="767856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id="{CA2757B7-E4A3-749C-D03B-DE76D8933AB2}"/>
                </a:ext>
              </a:extLst>
            </p:cNvPr>
            <p:cNvSpPr txBox="1"/>
            <p:nvPr/>
          </p:nvSpPr>
          <p:spPr>
            <a:xfrm>
              <a:off x="1968150" y="767856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id="{91235EC8-27CA-BF43-DBC8-5DD41C54F3B2}"/>
                </a:ext>
              </a:extLst>
            </p:cNvPr>
            <p:cNvSpPr txBox="1"/>
            <p:nvPr/>
          </p:nvSpPr>
          <p:spPr>
            <a:xfrm>
              <a:off x="3307602" y="767856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60" name="Google Shape;60;p2">
              <a:extLst>
                <a:ext uri="{FF2B5EF4-FFF2-40B4-BE49-F238E27FC236}">
                  <a16:creationId xmlns:a16="http://schemas.microsoft.com/office/drawing/2014/main" id="{4B08D63E-EA01-830C-90F0-10634607E3DB}"/>
                </a:ext>
              </a:extLst>
            </p:cNvPr>
            <p:cNvSpPr txBox="1"/>
            <p:nvPr/>
          </p:nvSpPr>
          <p:spPr>
            <a:xfrm>
              <a:off x="4658416" y="767856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61" name="Google Shape;61;p2">
              <a:extLst>
                <a:ext uri="{FF2B5EF4-FFF2-40B4-BE49-F238E27FC236}">
                  <a16:creationId xmlns:a16="http://schemas.microsoft.com/office/drawing/2014/main" id="{8E15E237-9B95-F270-DB4D-CED0A37C056F}"/>
                </a:ext>
              </a:extLst>
            </p:cNvPr>
            <p:cNvSpPr txBox="1"/>
            <p:nvPr/>
          </p:nvSpPr>
          <p:spPr>
            <a:xfrm>
              <a:off x="6011120" y="767856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30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3" name="Google Shape;64;p2">
            <a:extLst>
              <a:ext uri="{FF2B5EF4-FFF2-40B4-BE49-F238E27FC236}">
                <a16:creationId xmlns:a16="http://schemas.microsoft.com/office/drawing/2014/main" id="{01FB386B-271F-A817-75B5-933530756B0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4" name="Google Shape;65;p2">
              <a:extLst>
                <a:ext uri="{FF2B5EF4-FFF2-40B4-BE49-F238E27FC236}">
                  <a16:creationId xmlns:a16="http://schemas.microsoft.com/office/drawing/2014/main" id="{86FF7BF9-15AF-9E07-4248-9F47F4413DC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2D5F2B69-9F89-F4B8-4805-627F46B6E1B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CCB62724-4BFC-8E91-5AAB-ABCE6E84043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ED43A1DA-4A92-3B29-4F6A-9D87228501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851152C0-F975-B45B-1EA1-5BC499FD824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C3DC025C-15D9-533A-5F4A-A567C3A4E9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6BB4609-6B62-001F-7597-48C0CE2D8F8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D0BEC541-1DE3-B71C-834A-F0B282ADF50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B6584083-F53D-059C-7B98-C2860747F62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2F226531-0BF2-3BEA-5768-BD7A17B434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8127D34E-0997-04D1-F10D-77736638A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E603CD86-6B5E-D00E-5BE7-68B78C3108B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68470026-2627-C294-0226-502F39A2CD5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D6053ACB-A2F1-9A81-ADFD-E4E0F7FB7EC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6668A9CD-897A-DB99-7538-DC32E09E00F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1CC10D95-A7A2-DB16-50A2-BD7B4C5AD46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id="{D40CB646-D81F-9267-FC04-CB245A8B25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0030DB3-4FA9-1F2A-FEFD-7CF795E529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B755BAD3-FBDD-BDD0-2962-31C7DB2128E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D7D92EF8-44D8-6D82-3537-C0DF602EED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DAED767-92E3-DFFB-C7F6-9BCB08ED11C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99D1138F-495A-9783-BDD8-7FA64F5685A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063A9346-369C-FA78-56C9-6B5C5017D6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7E03D4DA-5DAA-14CE-C180-87B1B79388A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0AD78CBC-11A6-43BA-6EDB-F127467E2E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BCAB3DEC-1292-1EE3-46F4-98FC8A98FBB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8AB09736-CB0A-6AF8-0F77-9398C2C6E6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6" name="Google Shape;92;p2">
              <a:extLst>
                <a:ext uri="{FF2B5EF4-FFF2-40B4-BE49-F238E27FC236}">
                  <a16:creationId xmlns:a16="http://schemas.microsoft.com/office/drawing/2014/main" id="{DACF3075-FFC4-0089-91C3-4C17C1CC57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2BA23D20-CB45-9833-6FD7-0D84B6CEA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99534736-C232-2680-22CA-F4AB7E528AD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AA01FB2A-0417-D43D-2AC1-B0C902A9CF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213158AC-5ABB-B92B-262D-3C31B54A21E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4BAEEB1C-4F4C-CCFC-B2E2-B5FBE83D41F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6391546F-7BAB-F4E7-90A5-71029C9022C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5FDD155D-A8A1-D1EE-DDB0-4107B033544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85F6BB9C-DD83-8ABB-FDDB-8C02D286B7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B170A80-4896-2EF7-06D4-ABF357F672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CEBDBDBA-4553-1389-E205-A9245EBA25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45B73E07-0EA8-BA4A-373B-8934B599777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0AFC6F6E-C3E4-BAF6-64CC-4818815005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330443C5-2FBC-09BF-1C92-FE6B5E9C5E0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F1A6AD3-9BD4-F618-519B-62302E8495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C16CA14-6E4E-E8EB-8D4A-332C424155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B85CEE91-C406-8921-8C14-74B06623B0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15E61038-BB3E-919C-FA7A-8C4B07A73F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E4448DB7-B80E-30D7-F5F3-999EEEED15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4B34A99E-E6D7-B327-EC69-86A3D3F04F4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8" name="Google Shape;112;p2">
              <a:extLst>
                <a:ext uri="{FF2B5EF4-FFF2-40B4-BE49-F238E27FC236}">
                  <a16:creationId xmlns:a16="http://schemas.microsoft.com/office/drawing/2014/main" id="{57482840-218C-6406-4856-4019970AB08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797DED7A-84EF-7A1B-2302-CFF49D99BD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3DDB75E2-424F-9C6B-8FF4-D415A678298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BFF2DA01-EF7A-3656-BB65-15E23B0FC5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07C0D283-3DA6-ABD2-82C2-3C5958F0F0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580AD690-8F11-319D-7B58-015D3BD1311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2988F25E-394C-8288-2AA6-CAA9B504444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B442D486-B42D-DF80-9F01-CC0EF7A5F9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5C6820BA-65B7-7AF3-D1F4-4DDA9B0C4CC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0DE6AC02-68C2-AD68-2A06-BF59C0CA24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00B0943A-D7D2-3DBA-E886-D98E339A5F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A1841314-34E6-454A-9090-646C21BDF8B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7B7DE37-A8EF-AD2C-199C-803D849AD10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F0E82A24-28D2-F366-2855-5ED7774396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C9FAC4FE-FB1B-9B51-BDB6-AC9285EE60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AE6867FE-FB5C-049A-7A44-ABA4724ACEA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28;p2">
              <a:extLst>
                <a:ext uri="{FF2B5EF4-FFF2-40B4-BE49-F238E27FC236}">
                  <a16:creationId xmlns:a16="http://schemas.microsoft.com/office/drawing/2014/main" id="{8329AE0F-7E4F-B8CF-8D11-048D9030A0F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007A3FFE-B7E2-8375-9780-26FD1DE391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4C78AA-B92F-F1BA-9021-188FAF8BC4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876AE43F-4854-72AA-E34B-E4CA49E6D5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856D2195-DC0A-1ADF-F6F2-35546FCF6C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45473D2-FB7B-AA86-D21B-384EFA65EED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DBAF2974-E388-F264-1599-52BE6C51300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5B1289B-2834-31FC-65D2-7F33CA2DB19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0" name="Google Shape;136;p2">
              <a:extLst>
                <a:ext uri="{FF2B5EF4-FFF2-40B4-BE49-F238E27FC236}">
                  <a16:creationId xmlns:a16="http://schemas.microsoft.com/office/drawing/2014/main" id="{E62F016C-C2F5-103A-3DD0-1ADC1B4F65B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689396AA-90DF-630F-E051-6FDB2529CF7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6A1030CC-085F-0CCC-8E09-5D3308176B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0FE061F4-FC18-9916-3564-C5DDA765CA3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09801D96-A394-6720-7CF3-B431E5987C4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CECD3A2B-A673-5A99-76EF-316384F53A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0937263E-8391-B0F6-CF4B-2DD7BF48D02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2DAE30DF-871C-3D64-7907-228684DF78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1" name="Google Shape;144;p2">
              <a:extLst>
                <a:ext uri="{FF2B5EF4-FFF2-40B4-BE49-F238E27FC236}">
                  <a16:creationId xmlns:a16="http://schemas.microsoft.com/office/drawing/2014/main" id="{41DCEDE5-4D14-1C85-08B0-891C160C01D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5F91D5A0-2CF9-2476-FD31-3AF3F736516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84F480D7-6448-46FE-0262-6E69240E4F3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9AD36D21-177A-7150-CEE3-A49A30C058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FB9D0BEC-9BAB-1E08-F8A3-78D383EE6C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8C424AB4-23A1-0C44-5852-0C728F00C00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CA8DCE30-2BA5-09AA-9675-48376E8D82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A1023A54-839F-50D1-BD31-A5ECBD5CC9A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311D3FC9-46D9-B2E8-430B-5F2B3FA40D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3A150521-3664-C0F0-881C-14A4CB23C7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B9884CBF-A31F-C239-6C61-429B6BBFD9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3" name="Google Shape;155;p2">
              <a:extLst>
                <a:ext uri="{FF2B5EF4-FFF2-40B4-BE49-F238E27FC236}">
                  <a16:creationId xmlns:a16="http://schemas.microsoft.com/office/drawing/2014/main" id="{6133E80D-3CFF-7F6F-E090-2D8EA0989B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B506A47A-49C4-C5DE-3222-80871EBB65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1914FC07-5569-9BFB-08C0-FC43F75EB3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1DC77814-B71A-6A26-094F-5591054A70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85A39045-C626-6B16-64E1-3E655982FA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5389D781-F504-0A69-37D7-59DB896E6A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73BCB397-10B3-12CA-A586-EB528D00D8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B393E305-F3B0-2C5D-32B6-2F03E9A323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810C8C6D-0439-9429-A8A6-CDC9A8A2DA1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B5D84A4E-1E54-D3AA-E36E-9BAC9E43E3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290AE19F-DAF7-F293-8E00-74E4E975D71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5" name="그룹 5">
            <a:extLst>
              <a:ext uri="{FF2B5EF4-FFF2-40B4-BE49-F238E27FC236}">
                <a16:creationId xmlns:a16="http://schemas.microsoft.com/office/drawing/2014/main" id="{DB884346-0490-CF6C-A5BC-0A1B5B40A4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105CEDE0-FE83-9C22-58BD-29D9A543EC45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8" name="Google Shape;25;p2">
              <a:extLst>
                <a:ext uri="{FF2B5EF4-FFF2-40B4-BE49-F238E27FC236}">
                  <a16:creationId xmlns:a16="http://schemas.microsoft.com/office/drawing/2014/main" id="{D161A380-232C-421B-11C0-F4A4C95474E2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9" name="Google Shape;25;p2">
              <a:extLst>
                <a:ext uri="{FF2B5EF4-FFF2-40B4-BE49-F238E27FC236}">
                  <a16:creationId xmlns:a16="http://schemas.microsoft.com/office/drawing/2014/main" id="{CB036A62-1FDE-3407-57D3-C4537CA355A0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0" name="Google Shape;25;p2">
              <a:extLst>
                <a:ext uri="{FF2B5EF4-FFF2-40B4-BE49-F238E27FC236}">
                  <a16:creationId xmlns:a16="http://schemas.microsoft.com/office/drawing/2014/main" id="{2368BA8D-1E1F-165B-956C-D204EE1C1986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1" name="Google Shape;25;p2">
              <a:extLst>
                <a:ext uri="{FF2B5EF4-FFF2-40B4-BE49-F238E27FC236}">
                  <a16:creationId xmlns:a16="http://schemas.microsoft.com/office/drawing/2014/main" id="{8792AF1C-8B18-0068-D1BA-E21E2D18F60E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6;p2">
              <a:extLst>
                <a:ext uri="{FF2B5EF4-FFF2-40B4-BE49-F238E27FC236}">
                  <a16:creationId xmlns:a16="http://schemas.microsoft.com/office/drawing/2014/main" id="{B1AA85BB-CD51-2BA0-2EA1-A582A17DF7B6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9;p2">
              <a:extLst>
                <a:ext uri="{FF2B5EF4-FFF2-40B4-BE49-F238E27FC236}">
                  <a16:creationId xmlns:a16="http://schemas.microsoft.com/office/drawing/2014/main" id="{EA71EC3E-89EB-37AA-C8A9-C84A7A26975E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32;p2">
              <a:extLst>
                <a:ext uri="{FF2B5EF4-FFF2-40B4-BE49-F238E27FC236}">
                  <a16:creationId xmlns:a16="http://schemas.microsoft.com/office/drawing/2014/main" id="{41EB08C8-CAD0-0FE8-B0D9-DDBE66601F50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35;p2">
              <a:extLst>
                <a:ext uri="{FF2B5EF4-FFF2-40B4-BE49-F238E27FC236}">
                  <a16:creationId xmlns:a16="http://schemas.microsoft.com/office/drawing/2014/main" id="{1485F9D6-7856-73AC-A9E8-0AF6A9CB2C58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63;p2">
              <a:extLst>
                <a:ext uri="{FF2B5EF4-FFF2-40B4-BE49-F238E27FC236}">
                  <a16:creationId xmlns:a16="http://schemas.microsoft.com/office/drawing/2014/main" id="{68686E54-BF8E-E0AA-5C26-3990B76DAC51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4" name="그래픽 23">
            <a:extLst>
              <a:ext uri="{FF2B5EF4-FFF2-40B4-BE49-F238E27FC236}">
                <a16:creationId xmlns:a16="http://schemas.microsoft.com/office/drawing/2014/main" id="{7DCA2931-6703-A5C3-0D7B-DA514C72D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01006" y="1789382"/>
            <a:ext cx="886962" cy="654637"/>
          </a:xfrm>
          <a:prstGeom prst="rect">
            <a:avLst/>
          </a:prstGeom>
        </p:spPr>
      </p:pic>
      <p:grpSp>
        <p:nvGrpSpPr>
          <p:cNvPr id="26" name="그룹 165"/>
          <p:cNvGrpSpPr/>
          <p:nvPr/>
        </p:nvGrpSpPr>
        <p:grpSpPr>
          <a:xfrm>
            <a:off x="144368" y="9329099"/>
            <a:ext cx="7462140" cy="1243377"/>
            <a:chOff x="144368" y="9329099"/>
            <a:chExt cx="7326612" cy="1243377"/>
          </a:xfrm>
        </p:grpSpPr>
        <p:pic>
          <p:nvPicPr>
            <p:cNvPr id="167" name="그래픽 118">
              <a:extLst>
                <a:ext uri="{FF2B5EF4-FFF2-40B4-BE49-F238E27FC236}">
                  <a16:creationId xmlns:a16="http://schemas.microsoft.com/office/drawing/2014/main" id="{49CFC1FD-A8A0-1996-0181-4EC705A5FE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68" y="9376141"/>
              <a:ext cx="1173298" cy="27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8" name="Google Shape;92;p1"/>
            <p:cNvSpPr txBox="1"/>
            <p:nvPr/>
          </p:nvSpPr>
          <p:spPr bwMode="auto">
            <a:xfrm>
              <a:off x="1230075" y="9329099"/>
              <a:ext cx="6240905" cy="1243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>
              <a:spAutoFit/>
            </a:bodyPr>
            <a:lstStyle/>
            <a:p>
              <a:pPr eaLnBrk="1" fontAlgn="auto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●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원산지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표시안내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endParaRPr sz="850" dirty="0">
                <a:latin typeface="Pretendard" pitchFamily="50" charset="-127"/>
                <a:ea typeface="Pretendard" pitchFamily="50" charset="-127"/>
                <a:cs typeface="Pretendard" pitchFamily="50" charset="-127"/>
              </a:endParaRPr>
            </a:p>
            <a:p>
              <a:pPr eaLnBrk="1" fontAlgn="auto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쌀(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유기농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현미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흑미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찹쌀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친환경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소(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육우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돼지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닭(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오리고기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두부,콩비지,콩국수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(콩-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</a:p>
            <a:p>
              <a:pPr eaLnBrk="1" fontAlgn="auto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배추김치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배추-국내산,고춧가루-국내산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삼치,아귀,오징어,고등어,꽃게,패류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새우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베트남산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명태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러시아산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참치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원양산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가다랭이포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인도네시아산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</a:t>
              </a:r>
              <a:endParaRPr sz="850" dirty="0">
                <a:latin typeface="Pretendard" pitchFamily="50" charset="-127"/>
                <a:ea typeface="Pretendard" pitchFamily="50" charset="-127"/>
                <a:cs typeface="Pretendard" pitchFamily="50" charset="-127"/>
              </a:endParaRPr>
            </a:p>
            <a:p>
              <a:pPr>
                <a:lnSpc>
                  <a:spcPct val="80000"/>
                </a:lnSpc>
                <a:defRPr/>
              </a:pP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①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난류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②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유제품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③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메밀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④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사과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⑤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대두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⑥밀 ⑦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생선류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⑧게 ⑨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새우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⑩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돼지고기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⑪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복숭아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⑫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토마토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⑬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닭류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⑭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쇠고기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⑮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오징어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⑯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양고기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⑰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조개류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굴,전복,홍합포함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 ⑱</a:t>
              </a:r>
              <a:r>
                <a:rPr lang="en-US" sz="850" dirty="0" err="1" smtClean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파인애플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 </a:t>
              </a:r>
              <a:r>
                <a:rPr lang="en-US" sz="850" dirty="0" smtClean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 </a:t>
              </a:r>
              <a:r>
                <a:rPr lang="en-US" altLang="ko-KR" sz="850" dirty="0" smtClean="0">
                  <a:solidFill>
                    <a:srgbClr val="C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☆</a:t>
              </a:r>
              <a:r>
                <a:rPr lang="en-US" sz="850" dirty="0" err="1" smtClean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과일은</a:t>
              </a:r>
              <a:r>
                <a:rPr lang="en-US" sz="850" dirty="0" smtClean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제철과일로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제공되고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있으며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,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해당과일에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따른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알러지케어가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이루어지고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있습니다</a:t>
              </a:r>
              <a:r>
                <a:rPr lang="en-US" sz="850" dirty="0" smtClean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.</a:t>
              </a:r>
              <a:endParaRPr lang="en-US" sz="850" dirty="0">
                <a:solidFill>
                  <a:srgbClr val="C00000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  <a:sym typeface="Arial"/>
              </a:endParaRPr>
            </a:p>
            <a:p>
              <a:pPr eaLnBrk="1" fontAlgn="auto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●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영양성분 안내</a:t>
              </a:r>
              <a:endParaRPr lang="en-US" altLang="ko-KR" sz="850" dirty="0">
                <a:solidFill>
                  <a:srgbClr val="494640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  <a:sym typeface="Arial"/>
              </a:endParaRPr>
            </a:p>
            <a:p>
              <a:pPr eaLnBrk="1" fontAlgn="auto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50" b="1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Kcal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: calorie(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칼로리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,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열량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altLang="ko-KR" sz="850" b="1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C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: carbohydrate(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탄수화물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altLang="ko-KR" sz="850" b="1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P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:protein(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단백질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altLang="ko-KR" sz="850" b="1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F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:fat(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지방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을 의미하며 </a:t>
              </a:r>
              <a:r>
                <a:rPr lang="en-US" altLang="ko-KR" sz="850" b="1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C,P,F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옆의 숫자는 식품에 함유된 각 영양성분의 무게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(g)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를 의미합니다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.</a:t>
              </a:r>
            </a:p>
            <a:p>
              <a:pPr eaLnBrk="1" fontAlgn="auto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50" dirty="0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1</a:t>
              </a:r>
              <a:r>
                <a:rPr lang="ko-KR" altLang="en-US" sz="850" dirty="0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인 평균 </a:t>
              </a:r>
              <a:r>
                <a:rPr lang="ko-KR" altLang="en-US" sz="850" dirty="0" err="1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제공량</a:t>
              </a:r>
              <a:r>
                <a:rPr lang="ko-KR" altLang="en-US" sz="850" dirty="0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 기준으로 작성되었으며</a:t>
              </a:r>
              <a:r>
                <a:rPr lang="en-US" altLang="ko-KR" sz="850" dirty="0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, </a:t>
              </a:r>
              <a:r>
                <a:rPr lang="ko-KR" altLang="en-US" sz="850" dirty="0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개인의 섭취량에 따라 달라질 수 </a:t>
              </a:r>
              <a:r>
                <a:rPr lang="ko-KR" altLang="en-US" sz="850" dirty="0" smtClean="0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있습니다</a:t>
              </a:r>
              <a:r>
                <a:rPr lang="en-US" altLang="ko-KR" sz="850" dirty="0" smtClean="0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 </a:t>
              </a:r>
              <a:r>
                <a:rPr lang="ko-KR" altLang="en-US" sz="850" dirty="0" smtClean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*위 식단은 식품수급에 따라 변경될 수 있습니다</a:t>
              </a:r>
              <a:r>
                <a:rPr lang="en-US" altLang="ko-KR" sz="850" dirty="0" smtClean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r>
                <a:rPr lang="ko-KR" altLang="en-US" sz="85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endParaRPr lang="ko-KR" altLang="en-US" sz="85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lvl="0">
                <a:lnSpc>
                  <a:spcPct val="80000"/>
                </a:lnSpc>
                <a:buClr>
                  <a:srgbClr val="494640"/>
                </a:buClr>
                <a:buSzPts val="800"/>
              </a:pPr>
              <a:r>
                <a:rPr lang="ko-KR" altLang="en-US" sz="85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85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Kizmeal</a:t>
              </a:r>
              <a:r>
                <a:rPr lang="ko-KR" altLang="en-US" sz="85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박상아</a:t>
              </a:r>
              <a:r>
                <a:rPr lang="en-US" altLang="ko-KR" sz="85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85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영양사 </a:t>
              </a:r>
              <a:r>
                <a:rPr lang="en-US" altLang="ko-KR" sz="85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 qlqlem5@kizmeal.com I www. Kizmeal.com</a:t>
              </a:r>
              <a:endParaRPr lang="ko-KR" altLang="en-US" sz="85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69" name="Google Shape;21;p2">
            <a:extLst>
              <a:ext uri="{FF2B5EF4-FFF2-40B4-BE49-F238E27FC236}">
                <a16:creationId xmlns:a16="http://schemas.microsoft.com/office/drawing/2014/main" id="{E90938C5-ACDB-8923-8B6C-9191A270825A}"/>
              </a:ext>
            </a:extLst>
          </p:cNvPr>
          <p:cNvSpPr txBox="1"/>
          <p:nvPr/>
        </p:nvSpPr>
        <p:spPr>
          <a:xfrm>
            <a:off x="5847128" y="648681"/>
            <a:ext cx="14309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KIS(International)</a:t>
            </a:r>
            <a:endParaRPr sz="1200" b="1" u="none" strike="noStrike" cap="none" dirty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684752" y="1194613"/>
            <a:ext cx="1206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en-US" altLang="ko-KR" sz="1100" dirty="0">
                <a:solidFill>
                  <a:srgbClr val="146152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1</a:t>
            </a:r>
            <a:r>
              <a:rPr lang="ko-KR" altLang="en-US" sz="1100" dirty="0" smtClean="0">
                <a:solidFill>
                  <a:srgbClr val="146152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월의 추천 식재료</a:t>
            </a:r>
            <a:endParaRPr lang="en-US" altLang="ko-KR" sz="1100" dirty="0">
              <a:latin typeface="Pretendard" pitchFamily="50" charset="-127"/>
              <a:ea typeface="Pretendard" pitchFamily="50" charset="-127"/>
              <a:cs typeface="Pretendard" pitchFamily="50" charset="-127"/>
            </a:endParaRPr>
          </a:p>
        </p:txBody>
      </p:sp>
      <p:pic>
        <p:nvPicPr>
          <p:cNvPr id="172" name="그림 17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302" y="1324886"/>
            <a:ext cx="1258576" cy="755219"/>
          </a:xfrm>
          <a:prstGeom prst="rect">
            <a:avLst/>
          </a:prstGeom>
        </p:spPr>
      </p:pic>
      <p:pic>
        <p:nvPicPr>
          <p:cNvPr id="173" name="그림 17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313" y="1188652"/>
            <a:ext cx="1384149" cy="110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8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F65150AF-4596-4A66-CD3F-6DE2FAC81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DA316B92-80EB-FEF9-70BF-8631A6C281BD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altLang="ko-KR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JAN.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4881F631-7A79-012D-B237-9C42278673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666081"/>
              </p:ext>
            </p:extLst>
          </p:nvPr>
        </p:nvGraphicFramePr>
        <p:xfrm>
          <a:off x="194988" y="1156203"/>
          <a:ext cx="7166525" cy="813061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week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딸기에는 비타민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C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가 많아서 몸속에서 우리를 보호하는 백혈구를 활성화시켜줘서 감기를 예방하고 면역력 강화에 도움을 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주고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항산화 성분도 들어 있어서 노화 방지에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효과적입니다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 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우엉은 장 건강을 개선시키고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혈당 상승을 완화시키는 효과가 있으며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우엉차로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먹으면  체내 독소 배출을 효과가 있고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배변활동에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도움이 됩니다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신정</a:t>
                      </a:r>
                      <a:endParaRPr lang="en-US" altLang="ko-KR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12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Snack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week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Snack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week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Snack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week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Snack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250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week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Snack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" name="Google Shape;36;p2">
            <a:extLst>
              <a:ext uri="{FF2B5EF4-FFF2-40B4-BE49-F238E27FC236}">
                <a16:creationId xmlns:a16="http://schemas.microsoft.com/office/drawing/2014/main" id="{EC93AF00-DC22-BB56-8B22-101F93D9276B}"/>
              </a:ext>
            </a:extLst>
          </p:cNvPr>
          <p:cNvGrpSpPr/>
          <p:nvPr/>
        </p:nvGrpSpPr>
        <p:grpSpPr>
          <a:xfrm>
            <a:off x="637928" y="1188961"/>
            <a:ext cx="5677110" cy="6735839"/>
            <a:chOff x="618003" y="1173463"/>
            <a:chExt cx="5677110" cy="6735839"/>
          </a:xfrm>
        </p:grpSpPr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18B9E23A-3707-8672-2225-EEC97DC66986}"/>
                </a:ext>
              </a:extLst>
            </p:cNvPr>
            <p:cNvSpPr txBox="1"/>
            <p:nvPr/>
          </p:nvSpPr>
          <p:spPr>
            <a:xfrm>
              <a:off x="4663768" y="117346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4A35F6D5-9607-8B8F-1115-D7690D6CF5F2}"/>
                </a:ext>
              </a:extLst>
            </p:cNvPr>
            <p:cNvSpPr txBox="1"/>
            <p:nvPr/>
          </p:nvSpPr>
          <p:spPr>
            <a:xfrm>
              <a:off x="6016472" y="117346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392B1BD8-D2A0-9B6F-5BC8-CB5F1013DB58}"/>
                </a:ext>
              </a:extLst>
            </p:cNvPr>
            <p:cNvSpPr txBox="1"/>
            <p:nvPr/>
          </p:nvSpPr>
          <p:spPr>
            <a:xfrm>
              <a:off x="634219" y="279923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D408344B-C7CE-698F-C9A6-E587D0B117B4}"/>
                </a:ext>
              </a:extLst>
            </p:cNvPr>
            <p:cNvSpPr txBox="1"/>
            <p:nvPr/>
          </p:nvSpPr>
          <p:spPr>
            <a:xfrm>
              <a:off x="1983608" y="279923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03092484-9E73-E2BE-E1C0-6668B0D181DE}"/>
                </a:ext>
              </a:extLst>
            </p:cNvPr>
            <p:cNvSpPr txBox="1"/>
            <p:nvPr/>
          </p:nvSpPr>
          <p:spPr>
            <a:xfrm>
              <a:off x="3323060" y="279923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6559F7DD-D63C-348A-8B8D-2C736B39D386}"/>
                </a:ext>
              </a:extLst>
            </p:cNvPr>
            <p:cNvSpPr txBox="1"/>
            <p:nvPr/>
          </p:nvSpPr>
          <p:spPr>
            <a:xfrm>
              <a:off x="4673874" y="279923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43093747-3D9B-BD0A-AC3A-06168949EC91}"/>
                </a:ext>
              </a:extLst>
            </p:cNvPr>
            <p:cNvSpPr txBox="1"/>
            <p:nvPr/>
          </p:nvSpPr>
          <p:spPr>
            <a:xfrm>
              <a:off x="6026578" y="279923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FDC072F6-13FE-4843-FFC9-092BA00EBD51}"/>
                </a:ext>
              </a:extLst>
            </p:cNvPr>
            <p:cNvSpPr txBox="1"/>
            <p:nvPr/>
          </p:nvSpPr>
          <p:spPr>
            <a:xfrm>
              <a:off x="618003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B4131F68-E0ED-BDE4-BA1A-1597F5558EE4}"/>
                </a:ext>
              </a:extLst>
            </p:cNvPr>
            <p:cNvSpPr txBox="1"/>
            <p:nvPr/>
          </p:nvSpPr>
          <p:spPr>
            <a:xfrm>
              <a:off x="1967392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1BE968A1-3BCB-9F16-239C-782153549615}"/>
                </a:ext>
              </a:extLst>
            </p:cNvPr>
            <p:cNvSpPr txBox="1"/>
            <p:nvPr/>
          </p:nvSpPr>
          <p:spPr>
            <a:xfrm>
              <a:off x="3306844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0E4DB1CB-A427-4901-B884-069612D30EAC}"/>
                </a:ext>
              </a:extLst>
            </p:cNvPr>
            <p:cNvSpPr txBox="1"/>
            <p:nvPr/>
          </p:nvSpPr>
          <p:spPr>
            <a:xfrm>
              <a:off x="4657658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DEA1CCCB-AC8B-309A-FDB5-32E0C9B033D6}"/>
                </a:ext>
              </a:extLst>
            </p:cNvPr>
            <p:cNvSpPr txBox="1"/>
            <p:nvPr/>
          </p:nvSpPr>
          <p:spPr>
            <a:xfrm>
              <a:off x="6010362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AF3C1EB0-988C-CE85-48AD-F236CC8F1E51}"/>
                </a:ext>
              </a:extLst>
            </p:cNvPr>
            <p:cNvSpPr txBox="1"/>
            <p:nvPr/>
          </p:nvSpPr>
          <p:spPr>
            <a:xfrm>
              <a:off x="618003" y="605077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35626A06-8BD2-3283-6130-A0DB952BE74F}"/>
                </a:ext>
              </a:extLst>
            </p:cNvPr>
            <p:cNvSpPr txBox="1"/>
            <p:nvPr/>
          </p:nvSpPr>
          <p:spPr>
            <a:xfrm>
              <a:off x="1967392" y="605077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DF639095-0329-4306-6CA1-0E4B1741F1D5}"/>
                </a:ext>
              </a:extLst>
            </p:cNvPr>
            <p:cNvSpPr txBox="1"/>
            <p:nvPr/>
          </p:nvSpPr>
          <p:spPr>
            <a:xfrm>
              <a:off x="3306844" y="605077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F31F3CB8-7DF8-5C5B-CB2E-EFE3DF52F8F7}"/>
                </a:ext>
              </a:extLst>
            </p:cNvPr>
            <p:cNvSpPr txBox="1"/>
            <p:nvPr/>
          </p:nvSpPr>
          <p:spPr>
            <a:xfrm>
              <a:off x="4657658" y="605077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FCA024E8-5D03-F649-4E22-3060DE04D4EA}"/>
                </a:ext>
              </a:extLst>
            </p:cNvPr>
            <p:cNvSpPr txBox="1"/>
            <p:nvPr/>
          </p:nvSpPr>
          <p:spPr>
            <a:xfrm>
              <a:off x="6010362" y="605077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id="{5F0AA7B0-41DD-B4E0-87B5-4692EF6A96C5}"/>
                </a:ext>
              </a:extLst>
            </p:cNvPr>
            <p:cNvSpPr txBox="1"/>
            <p:nvPr/>
          </p:nvSpPr>
          <p:spPr>
            <a:xfrm>
              <a:off x="618761" y="767856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id="{CA2757B7-E4A3-749C-D03B-DE76D8933AB2}"/>
                </a:ext>
              </a:extLst>
            </p:cNvPr>
            <p:cNvSpPr txBox="1"/>
            <p:nvPr/>
          </p:nvSpPr>
          <p:spPr>
            <a:xfrm>
              <a:off x="1968150" y="767856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id="{91235EC8-27CA-BF43-DBC8-5DD41C54F3B2}"/>
                </a:ext>
              </a:extLst>
            </p:cNvPr>
            <p:cNvSpPr txBox="1"/>
            <p:nvPr/>
          </p:nvSpPr>
          <p:spPr>
            <a:xfrm>
              <a:off x="3307602" y="767856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60" name="Google Shape;60;p2">
              <a:extLst>
                <a:ext uri="{FF2B5EF4-FFF2-40B4-BE49-F238E27FC236}">
                  <a16:creationId xmlns:a16="http://schemas.microsoft.com/office/drawing/2014/main" id="{4B08D63E-EA01-830C-90F0-10634607E3DB}"/>
                </a:ext>
              </a:extLst>
            </p:cNvPr>
            <p:cNvSpPr txBox="1"/>
            <p:nvPr/>
          </p:nvSpPr>
          <p:spPr>
            <a:xfrm>
              <a:off x="4658416" y="767856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61" name="Google Shape;61;p2">
              <a:extLst>
                <a:ext uri="{FF2B5EF4-FFF2-40B4-BE49-F238E27FC236}">
                  <a16:creationId xmlns:a16="http://schemas.microsoft.com/office/drawing/2014/main" id="{8E15E237-9B95-F270-DB4D-CED0A37C056F}"/>
                </a:ext>
              </a:extLst>
            </p:cNvPr>
            <p:cNvSpPr txBox="1"/>
            <p:nvPr/>
          </p:nvSpPr>
          <p:spPr>
            <a:xfrm>
              <a:off x="6011120" y="767856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30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3" name="Google Shape;64;p2">
            <a:extLst>
              <a:ext uri="{FF2B5EF4-FFF2-40B4-BE49-F238E27FC236}">
                <a16:creationId xmlns:a16="http://schemas.microsoft.com/office/drawing/2014/main" id="{01FB386B-271F-A817-75B5-933530756B0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4" name="Google Shape;65;p2">
              <a:extLst>
                <a:ext uri="{FF2B5EF4-FFF2-40B4-BE49-F238E27FC236}">
                  <a16:creationId xmlns:a16="http://schemas.microsoft.com/office/drawing/2014/main" id="{86FF7BF9-15AF-9E07-4248-9F47F4413DC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2D5F2B69-9F89-F4B8-4805-627F46B6E1B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CCB62724-4BFC-8E91-5AAB-ABCE6E84043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ED43A1DA-4A92-3B29-4F6A-9D87228501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851152C0-F975-B45B-1EA1-5BC499FD824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C3DC025C-15D9-533A-5F4A-A567C3A4E9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6BB4609-6B62-001F-7597-48C0CE2D8F8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D0BEC541-1DE3-B71C-834A-F0B282ADF50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B6584083-F53D-059C-7B98-C2860747F62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2F226531-0BF2-3BEA-5768-BD7A17B434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8127D34E-0997-04D1-F10D-77736638A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E603CD86-6B5E-D00E-5BE7-68B78C3108B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68470026-2627-C294-0226-502F39A2CD5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D6053ACB-A2F1-9A81-ADFD-E4E0F7FB7EC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6668A9CD-897A-DB99-7538-DC32E09E00F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1CC10D95-A7A2-DB16-50A2-BD7B4C5AD46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id="{D40CB646-D81F-9267-FC04-CB245A8B25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0030DB3-4FA9-1F2A-FEFD-7CF795E529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B755BAD3-FBDD-BDD0-2962-31C7DB2128E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D7D92EF8-44D8-6D82-3537-C0DF602EED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DAED767-92E3-DFFB-C7F6-9BCB08ED11C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99D1138F-495A-9783-BDD8-7FA64F5685A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063A9346-369C-FA78-56C9-6B5C5017D6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7E03D4DA-5DAA-14CE-C180-87B1B79388A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0AD78CBC-11A6-43BA-6EDB-F127467E2E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BCAB3DEC-1292-1EE3-46F4-98FC8A98FBB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8AB09736-CB0A-6AF8-0F77-9398C2C6E6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6" name="Google Shape;92;p2">
              <a:extLst>
                <a:ext uri="{FF2B5EF4-FFF2-40B4-BE49-F238E27FC236}">
                  <a16:creationId xmlns:a16="http://schemas.microsoft.com/office/drawing/2014/main" id="{DACF3075-FFC4-0089-91C3-4C17C1CC57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2BA23D20-CB45-9833-6FD7-0D84B6CEA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99534736-C232-2680-22CA-F4AB7E528AD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AA01FB2A-0417-D43D-2AC1-B0C902A9CF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213158AC-5ABB-B92B-262D-3C31B54A21E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4BAEEB1C-4F4C-CCFC-B2E2-B5FBE83D41F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6391546F-7BAB-F4E7-90A5-71029C9022C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5FDD155D-A8A1-D1EE-DDB0-4107B033544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85F6BB9C-DD83-8ABB-FDDB-8C02D286B7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B170A80-4896-2EF7-06D4-ABF357F672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CEBDBDBA-4553-1389-E205-A9245EBA25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45B73E07-0EA8-BA4A-373B-8934B599777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0AFC6F6E-C3E4-BAF6-64CC-4818815005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330443C5-2FBC-09BF-1C92-FE6B5E9C5E0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F1A6AD3-9BD4-F618-519B-62302E8495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C16CA14-6E4E-E8EB-8D4A-332C424155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B85CEE91-C406-8921-8C14-74B06623B0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15E61038-BB3E-919C-FA7A-8C4B07A73F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E4448DB7-B80E-30D7-F5F3-999EEEED15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4B34A99E-E6D7-B327-EC69-86A3D3F04F4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8" name="Google Shape;112;p2">
              <a:extLst>
                <a:ext uri="{FF2B5EF4-FFF2-40B4-BE49-F238E27FC236}">
                  <a16:creationId xmlns:a16="http://schemas.microsoft.com/office/drawing/2014/main" id="{57482840-218C-6406-4856-4019970AB08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797DED7A-84EF-7A1B-2302-CFF49D99BD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3DDB75E2-424F-9C6B-8FF4-D415A678298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BFF2DA01-EF7A-3656-BB65-15E23B0FC5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07C0D283-3DA6-ABD2-82C2-3C5958F0F0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580AD690-8F11-319D-7B58-015D3BD1311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2988F25E-394C-8288-2AA6-CAA9B504444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B442D486-B42D-DF80-9F01-CC0EF7A5F9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5C6820BA-65B7-7AF3-D1F4-4DDA9B0C4CC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0DE6AC02-68C2-AD68-2A06-BF59C0CA24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00B0943A-D7D2-3DBA-E886-D98E339A5F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A1841314-34E6-454A-9090-646C21BDF8B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7B7DE37-A8EF-AD2C-199C-803D849AD10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F0E82A24-28D2-F366-2855-5ED7774396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C9FAC4FE-FB1B-9B51-BDB6-AC9285EE60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AE6867FE-FB5C-049A-7A44-ABA4724ACEA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28;p2">
              <a:extLst>
                <a:ext uri="{FF2B5EF4-FFF2-40B4-BE49-F238E27FC236}">
                  <a16:creationId xmlns:a16="http://schemas.microsoft.com/office/drawing/2014/main" id="{8329AE0F-7E4F-B8CF-8D11-048D9030A0F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007A3FFE-B7E2-8375-9780-26FD1DE391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4C78AA-B92F-F1BA-9021-188FAF8BC4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876AE43F-4854-72AA-E34B-E4CA49E6D5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856D2195-DC0A-1ADF-F6F2-35546FCF6C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45473D2-FB7B-AA86-D21B-384EFA65EED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DBAF2974-E388-F264-1599-52BE6C51300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5B1289B-2834-31FC-65D2-7F33CA2DB19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0" name="Google Shape;136;p2">
              <a:extLst>
                <a:ext uri="{FF2B5EF4-FFF2-40B4-BE49-F238E27FC236}">
                  <a16:creationId xmlns:a16="http://schemas.microsoft.com/office/drawing/2014/main" id="{E62F016C-C2F5-103A-3DD0-1ADC1B4F65B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689396AA-90DF-630F-E051-6FDB2529CF7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6A1030CC-085F-0CCC-8E09-5D3308176B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0FE061F4-FC18-9916-3564-C5DDA765CA3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09801D96-A394-6720-7CF3-B431E5987C4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CECD3A2B-A673-5A99-76EF-316384F53A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0937263E-8391-B0F6-CF4B-2DD7BF48D02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2DAE30DF-871C-3D64-7907-228684DF78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1" name="Google Shape;144;p2">
              <a:extLst>
                <a:ext uri="{FF2B5EF4-FFF2-40B4-BE49-F238E27FC236}">
                  <a16:creationId xmlns:a16="http://schemas.microsoft.com/office/drawing/2014/main" id="{41DCEDE5-4D14-1C85-08B0-891C160C01D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5F91D5A0-2CF9-2476-FD31-3AF3F736516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84F480D7-6448-46FE-0262-6E69240E4F3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9AD36D21-177A-7150-CEE3-A49A30C058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FB9D0BEC-9BAB-1E08-F8A3-78D383EE6C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8C424AB4-23A1-0C44-5852-0C728F00C00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CA8DCE30-2BA5-09AA-9675-48376E8D82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A1023A54-839F-50D1-BD31-A5ECBD5CC9A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311D3FC9-46D9-B2E8-430B-5F2B3FA40D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3A150521-3664-C0F0-881C-14A4CB23C7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B9884CBF-A31F-C239-6C61-429B6BBFD9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3" name="Google Shape;155;p2">
              <a:extLst>
                <a:ext uri="{FF2B5EF4-FFF2-40B4-BE49-F238E27FC236}">
                  <a16:creationId xmlns:a16="http://schemas.microsoft.com/office/drawing/2014/main" id="{6133E80D-3CFF-7F6F-E090-2D8EA0989B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B506A47A-49C4-C5DE-3222-80871EBB65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1914FC07-5569-9BFB-08C0-FC43F75EB3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1DC77814-B71A-6A26-094F-5591054A70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85A39045-C626-6B16-64E1-3E655982FA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5389D781-F504-0A69-37D7-59DB896E6A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73BCB397-10B3-12CA-A586-EB528D00D8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B393E305-F3B0-2C5D-32B6-2F03E9A323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810C8C6D-0439-9429-A8A6-CDC9A8A2DA1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B5D84A4E-1E54-D3AA-E36E-9BAC9E43E3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290AE19F-DAF7-F293-8E00-74E4E975D71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7" name="그룹 5">
            <a:extLst>
              <a:ext uri="{FF2B5EF4-FFF2-40B4-BE49-F238E27FC236}">
                <a16:creationId xmlns:a16="http://schemas.microsoft.com/office/drawing/2014/main" id="{DB884346-0490-CF6C-A5BC-0A1B5B40A4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105CEDE0-FE83-9C22-58BD-29D9A543EC45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8" name="Google Shape;25;p2">
              <a:extLst>
                <a:ext uri="{FF2B5EF4-FFF2-40B4-BE49-F238E27FC236}">
                  <a16:creationId xmlns:a16="http://schemas.microsoft.com/office/drawing/2014/main" id="{D161A380-232C-421B-11C0-F4A4C95474E2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9" name="Google Shape;25;p2">
              <a:extLst>
                <a:ext uri="{FF2B5EF4-FFF2-40B4-BE49-F238E27FC236}">
                  <a16:creationId xmlns:a16="http://schemas.microsoft.com/office/drawing/2014/main" id="{CB036A62-1FDE-3407-57D3-C4537CA355A0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0" name="Google Shape;25;p2">
              <a:extLst>
                <a:ext uri="{FF2B5EF4-FFF2-40B4-BE49-F238E27FC236}">
                  <a16:creationId xmlns:a16="http://schemas.microsoft.com/office/drawing/2014/main" id="{2368BA8D-1E1F-165B-956C-D204EE1C1986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1" name="Google Shape;25;p2">
              <a:extLst>
                <a:ext uri="{FF2B5EF4-FFF2-40B4-BE49-F238E27FC236}">
                  <a16:creationId xmlns:a16="http://schemas.microsoft.com/office/drawing/2014/main" id="{8792AF1C-8B18-0068-D1BA-E21E2D18F60E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6;p2">
              <a:extLst>
                <a:ext uri="{FF2B5EF4-FFF2-40B4-BE49-F238E27FC236}">
                  <a16:creationId xmlns:a16="http://schemas.microsoft.com/office/drawing/2014/main" id="{B1AA85BB-CD51-2BA0-2EA1-A582A17DF7B6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9;p2">
              <a:extLst>
                <a:ext uri="{FF2B5EF4-FFF2-40B4-BE49-F238E27FC236}">
                  <a16:creationId xmlns:a16="http://schemas.microsoft.com/office/drawing/2014/main" id="{EA71EC3E-89EB-37AA-C8A9-C84A7A26975E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32;p2">
              <a:extLst>
                <a:ext uri="{FF2B5EF4-FFF2-40B4-BE49-F238E27FC236}">
                  <a16:creationId xmlns:a16="http://schemas.microsoft.com/office/drawing/2014/main" id="{41EB08C8-CAD0-0FE8-B0D9-DDBE66601F50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35;p2">
              <a:extLst>
                <a:ext uri="{FF2B5EF4-FFF2-40B4-BE49-F238E27FC236}">
                  <a16:creationId xmlns:a16="http://schemas.microsoft.com/office/drawing/2014/main" id="{1485F9D6-7856-73AC-A9E8-0AF6A9CB2C58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63;p2">
              <a:extLst>
                <a:ext uri="{FF2B5EF4-FFF2-40B4-BE49-F238E27FC236}">
                  <a16:creationId xmlns:a16="http://schemas.microsoft.com/office/drawing/2014/main" id="{68686E54-BF8E-E0AA-5C26-3990B76DAC51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4" name="그래픽 23">
            <a:extLst>
              <a:ext uri="{FF2B5EF4-FFF2-40B4-BE49-F238E27FC236}">
                <a16:creationId xmlns:a16="http://schemas.microsoft.com/office/drawing/2014/main" id="{7DCA2931-6703-A5C3-0D7B-DA514C72D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01006" y="1789382"/>
            <a:ext cx="886962" cy="654637"/>
          </a:xfrm>
          <a:prstGeom prst="rect">
            <a:avLst/>
          </a:prstGeom>
        </p:spPr>
      </p:pic>
      <p:grpSp>
        <p:nvGrpSpPr>
          <p:cNvPr id="28" name="그룹 22">
            <a:extLst>
              <a:ext uri="{FF2B5EF4-FFF2-40B4-BE49-F238E27FC236}">
                <a16:creationId xmlns:a16="http://schemas.microsoft.com/office/drawing/2014/main" id="{6CA3E72F-A8E8-60E8-44C9-12AE26826E47}"/>
              </a:ext>
            </a:extLst>
          </p:cNvPr>
          <p:cNvGrpSpPr/>
          <p:nvPr/>
        </p:nvGrpSpPr>
        <p:grpSpPr>
          <a:xfrm>
            <a:off x="144368" y="9376141"/>
            <a:ext cx="7219875" cy="1137833"/>
            <a:chOff x="144368" y="9376141"/>
            <a:chExt cx="7219875" cy="1137833"/>
          </a:xfrm>
        </p:grpSpPr>
        <p:pic>
          <p:nvPicPr>
            <p:cNvPr id="25" name="그래픽 118">
              <a:extLst>
                <a:ext uri="{FF2B5EF4-FFF2-40B4-BE49-F238E27FC236}">
                  <a16:creationId xmlns:a16="http://schemas.microsoft.com/office/drawing/2014/main" id="{7C4C613A-6343-94A4-A3B5-296317B6F7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68" y="9376141"/>
              <a:ext cx="1173298" cy="27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Google Shape;19;p2">
              <a:extLst>
                <a:ext uri="{FF2B5EF4-FFF2-40B4-BE49-F238E27FC236}">
                  <a16:creationId xmlns:a16="http://schemas.microsoft.com/office/drawing/2014/main" id="{41044521-3D67-71C8-A985-03C3E4BCBB1A}"/>
                </a:ext>
              </a:extLst>
            </p:cNvPr>
            <p:cNvSpPr/>
            <p:nvPr/>
          </p:nvSpPr>
          <p:spPr>
            <a:xfrm>
              <a:off x="1371763" y="9405978"/>
              <a:ext cx="5992480" cy="1107996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rtl="0"/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kcal: kilocalorie, C: Carbohydrate, P: Protein, F: Fat, g: gram</a:t>
              </a:r>
              <a:r>
                <a:rPr lang="en-US" altLang="ko-KR" sz="800" dirty="0">
                  <a:solidFill>
                    <a:srgbClr val="49464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*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Country of Origin Information</a:t>
              </a:r>
              <a:r>
                <a:rPr lang="en-US" altLang="ko-KR" sz="800" dirty="0">
                  <a:solidFill>
                    <a:srgbClr val="49464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Rice(Korea, pesticide-free), Brown </a:t>
              </a:r>
              <a:r>
                <a:rPr lang="en-US" altLang="ko-KR" sz="800" b="0" i="0" u="none" strike="noStrike" dirty="0" err="1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Rice,Black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800" b="0" i="0" u="none" strike="noStrike" dirty="0" err="1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Rice,Sticky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Rice(Korea), Beef(Korea), Pork(Korea), Chicken(Korea), </a:t>
              </a:r>
              <a:r>
                <a:rPr lang="en-US" altLang="ko-KR" sz="800" b="0" i="0" u="none" strike="noStrike" dirty="0" err="1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Duck·Smoked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duck(Korea), Tofu, </a:t>
              </a:r>
              <a:r>
                <a:rPr lang="en-US" altLang="ko-KR" sz="800" b="0" i="0" u="none" strike="noStrike" dirty="0" err="1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Pured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Soybean </a:t>
              </a:r>
              <a:r>
                <a:rPr lang="en-US" altLang="ko-KR" sz="800" b="0" i="0" u="none" strike="noStrike" dirty="0" err="1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Soup,Bean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Soup(Bean-Korea), Kimchi(Cabbage ,Pepper-Korea), Japanese </a:t>
              </a:r>
              <a:r>
                <a:rPr lang="en-US" altLang="ko-KR" sz="800" b="0" i="0" u="none" strike="noStrike" dirty="0" err="1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spanish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squid, mackerel, crab, shellfish(Korea), shrimp(imported), Flounder fish(Russia), Tuna(imported), Monkfish(Korea).</a:t>
              </a:r>
              <a:r>
                <a:rPr lang="en-US" altLang="ko-KR" sz="800" b="0" i="0" u="none" strike="noStrike" dirty="0">
                  <a:solidFill>
                    <a:srgbClr val="00000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①egg②dairy③buckwheat④apple⑤soybean⑥wheat⑦fish⑧crab⑨shrimp⑩pork⑪peach⑫tomato ⑬chicken ⑭beef ⑮squid ⑯lamb ⑰clam(oyster, ear shell, mussel, etc.) ⑱pineapple</a:t>
              </a:r>
              <a:r>
                <a:rPr lang="en-US" altLang="ko-KR" sz="800" dirty="0">
                  <a:solidFill>
                    <a:srgbClr val="49464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. </a:t>
              </a:r>
              <a:r>
                <a:rPr lang="en-US" altLang="ko-KR" sz="800" b="0" i="0" u="none" strike="noStrike" dirty="0">
                  <a:solidFill>
                    <a:srgbClr val="C0000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All menu items are subject to change according to availability.</a:t>
              </a:r>
              <a:r>
                <a:rPr lang="en-US" altLang="ko-KR" sz="800" dirty="0">
                  <a:solidFill>
                    <a:srgbClr val="C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800" b="0" i="0" u="none" strike="noStrike" dirty="0">
                  <a:solidFill>
                    <a:srgbClr val="C0000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☆ Students who have reported a certain allergy may be offered with an alternative. 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It is written based on the average serving amount per person, and may vary depending on the individual's intake</a:t>
              </a:r>
              <a:r>
                <a:rPr lang="en-US" altLang="ko-KR" sz="800" b="0" i="0" u="none" strike="noStrike" dirty="0">
                  <a:solidFill>
                    <a:srgbClr val="C0000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. 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*The above diet is subject to change depending on food supply and demand.</a:t>
              </a:r>
              <a:r>
                <a:rPr lang="en-US" altLang="ko-KR" sz="800" b="0" i="0" u="none" strike="noStrike" dirty="0">
                  <a:solidFill>
                    <a:srgbClr val="C0000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</a:p>
            <a:p>
              <a:pPr rtl="0"/>
              <a:r>
                <a:rPr lang="en-US" altLang="ko-KR" sz="800" b="0" i="0" u="none" strike="noStrike" dirty="0" err="1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Kizmeal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000 Nutritionist I </a:t>
              </a:r>
              <a:r>
                <a:rPr lang="en-US" altLang="ko-KR" sz="800" dirty="0">
                  <a:solidFill>
                    <a:srgbClr val="49464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000000000@kizmeal.com  I  www.Kizmeal.com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 </a:t>
              </a:r>
              <a:endParaRPr lang="en-US" altLang="ko-KR" sz="8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55" name="Google Shape;21;p2">
            <a:extLst>
              <a:ext uri="{FF2B5EF4-FFF2-40B4-BE49-F238E27FC236}">
                <a16:creationId xmlns:a16="http://schemas.microsoft.com/office/drawing/2014/main" id="{E90938C5-ACDB-8923-8B6C-9191A270825A}"/>
              </a:ext>
            </a:extLst>
          </p:cNvPr>
          <p:cNvSpPr txBox="1"/>
          <p:nvPr/>
        </p:nvSpPr>
        <p:spPr>
          <a:xfrm>
            <a:off x="5847128" y="648681"/>
            <a:ext cx="14309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KIS(International)</a:t>
            </a:r>
            <a:endParaRPr sz="1200" b="1" u="none" strike="noStrike" cap="none" dirty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684752" y="1194613"/>
            <a:ext cx="1318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en-US" altLang="ko-KR" sz="1100" dirty="0">
                <a:solidFill>
                  <a:srgbClr val="146152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1</a:t>
            </a:r>
            <a:r>
              <a:rPr lang="ko-KR" altLang="en-US" sz="1100" dirty="0" smtClean="0">
                <a:solidFill>
                  <a:srgbClr val="146152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월의 추천 식재료</a:t>
            </a:r>
            <a:endParaRPr lang="en-US" altLang="ko-KR" sz="1100" dirty="0">
              <a:latin typeface="Pretendard" pitchFamily="50" charset="-127"/>
              <a:ea typeface="Pretendard" pitchFamily="50" charset="-127"/>
              <a:cs typeface="Pretendard" pitchFamily="50" charset="-127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302" y="1324886"/>
            <a:ext cx="1258576" cy="755219"/>
          </a:xfrm>
          <a:prstGeom prst="rect">
            <a:avLst/>
          </a:prstGeom>
        </p:spPr>
      </p:pic>
      <p:pic>
        <p:nvPicPr>
          <p:cNvPr id="170" name="그림 16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313" y="1188652"/>
            <a:ext cx="1384149" cy="110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8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F65150AF-4596-4A66-CD3F-6DE2FAC81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DA316B92-80EB-FEF9-70BF-8631A6C281BD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altLang="ko-KR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JAN.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4881F631-7A79-012D-B237-9C42278673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1639266"/>
              </p:ext>
            </p:extLst>
          </p:nvPr>
        </p:nvGraphicFramePr>
        <p:xfrm>
          <a:off x="175292" y="1162990"/>
          <a:ext cx="7166525" cy="8660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딸기에는 비타민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C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가 많아서 몸속에서 우리를 보호하는 백혈구를 활성화시켜줘서 감기를 예방하고 면역력 강화에 도움을 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주고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항산화 성분도 들어 있어서 노화 방지에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효과적입니다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 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우엉은 장 건강을 개선시키고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혈당 상승을 완화시키는 효과가 있으며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우엉차로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먹으면  체내 독소 배출을 효과가 있고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배변활동에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도움이 됩니다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신정</a:t>
                      </a:r>
                      <a:endParaRPr lang="en-US" altLang="ko-KR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2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12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oogle Shape;36;p2">
            <a:extLst>
              <a:ext uri="{FF2B5EF4-FFF2-40B4-BE49-F238E27FC236}">
                <a16:creationId xmlns:a16="http://schemas.microsoft.com/office/drawing/2014/main" id="{EC93AF00-DC22-BB56-8B22-101F93D9276B}"/>
              </a:ext>
            </a:extLst>
          </p:cNvPr>
          <p:cNvGrpSpPr/>
          <p:nvPr/>
        </p:nvGrpSpPr>
        <p:grpSpPr>
          <a:xfrm>
            <a:off x="577412" y="1162990"/>
            <a:ext cx="5677110" cy="7176071"/>
            <a:chOff x="618003" y="1157978"/>
            <a:chExt cx="5677110" cy="7176071"/>
          </a:xfrm>
        </p:grpSpPr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18B9E23A-3707-8672-2225-EEC97DC66986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4A35F6D5-9607-8B8F-1115-D7690D6CF5F2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392B1BD8-D2A0-9B6F-5BC8-CB5F1013DB58}"/>
                </a:ext>
              </a:extLst>
            </p:cNvPr>
            <p:cNvSpPr txBox="1"/>
            <p:nvPr/>
          </p:nvSpPr>
          <p:spPr>
            <a:xfrm>
              <a:off x="634219" y="29025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D408344B-C7CE-698F-C9A6-E587D0B117B4}"/>
                </a:ext>
              </a:extLst>
            </p:cNvPr>
            <p:cNvSpPr txBox="1"/>
            <p:nvPr/>
          </p:nvSpPr>
          <p:spPr>
            <a:xfrm>
              <a:off x="1983608" y="29001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03092484-9E73-E2BE-E1C0-6668B0D181DE}"/>
                </a:ext>
              </a:extLst>
            </p:cNvPr>
            <p:cNvSpPr txBox="1"/>
            <p:nvPr/>
          </p:nvSpPr>
          <p:spPr>
            <a:xfrm>
              <a:off x="3323060" y="28983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6559F7DD-D63C-348A-8B8D-2C736B39D386}"/>
                </a:ext>
              </a:extLst>
            </p:cNvPr>
            <p:cNvSpPr txBox="1"/>
            <p:nvPr/>
          </p:nvSpPr>
          <p:spPr>
            <a:xfrm>
              <a:off x="4673874" y="28983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43093747-3D9B-BD0A-AC3A-06168949EC91}"/>
                </a:ext>
              </a:extLst>
            </p:cNvPr>
            <p:cNvSpPr txBox="1"/>
            <p:nvPr/>
          </p:nvSpPr>
          <p:spPr>
            <a:xfrm>
              <a:off x="6026578" y="289598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FDC072F6-13FE-4843-FFC9-092BA00EBD51}"/>
                </a:ext>
              </a:extLst>
            </p:cNvPr>
            <p:cNvSpPr txBox="1"/>
            <p:nvPr/>
          </p:nvSpPr>
          <p:spPr>
            <a:xfrm>
              <a:off x="618003" y="463515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B4131F68-E0ED-BDE4-BA1A-1597F5558EE4}"/>
                </a:ext>
              </a:extLst>
            </p:cNvPr>
            <p:cNvSpPr txBox="1"/>
            <p:nvPr/>
          </p:nvSpPr>
          <p:spPr>
            <a:xfrm>
              <a:off x="1967392" y="46327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1BE968A1-3BCB-9F16-239C-782153549615}"/>
                </a:ext>
              </a:extLst>
            </p:cNvPr>
            <p:cNvSpPr txBox="1"/>
            <p:nvPr/>
          </p:nvSpPr>
          <p:spPr>
            <a:xfrm>
              <a:off x="3306844" y="46310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0E4DB1CB-A427-4901-B884-069612D30EAC}"/>
                </a:ext>
              </a:extLst>
            </p:cNvPr>
            <p:cNvSpPr txBox="1"/>
            <p:nvPr/>
          </p:nvSpPr>
          <p:spPr>
            <a:xfrm>
              <a:off x="4657658" y="46310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DEA1CCCB-AC8B-309A-FDB5-32E0C9B033D6}"/>
                </a:ext>
              </a:extLst>
            </p:cNvPr>
            <p:cNvSpPr txBox="1"/>
            <p:nvPr/>
          </p:nvSpPr>
          <p:spPr>
            <a:xfrm>
              <a:off x="6010362" y="462862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AF3C1EB0-988C-CE85-48AD-F236CC8F1E51}"/>
                </a:ext>
              </a:extLst>
            </p:cNvPr>
            <p:cNvSpPr txBox="1"/>
            <p:nvPr/>
          </p:nvSpPr>
          <p:spPr>
            <a:xfrm>
              <a:off x="618003" y="63628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35626A06-8BD2-3283-6130-A0DB952BE74F}"/>
                </a:ext>
              </a:extLst>
            </p:cNvPr>
            <p:cNvSpPr txBox="1"/>
            <p:nvPr/>
          </p:nvSpPr>
          <p:spPr>
            <a:xfrm>
              <a:off x="1967392" y="63604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DF639095-0329-4306-6CA1-0E4B1741F1D5}"/>
                </a:ext>
              </a:extLst>
            </p:cNvPr>
            <p:cNvSpPr txBox="1"/>
            <p:nvPr/>
          </p:nvSpPr>
          <p:spPr>
            <a:xfrm>
              <a:off x="3306844" y="635867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F31F3CB8-7DF8-5C5B-CB2E-EFE3DF52F8F7}"/>
                </a:ext>
              </a:extLst>
            </p:cNvPr>
            <p:cNvSpPr txBox="1"/>
            <p:nvPr/>
          </p:nvSpPr>
          <p:spPr>
            <a:xfrm>
              <a:off x="4657658" y="635867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FCA024E8-5D03-F649-4E22-3060DE04D4EA}"/>
                </a:ext>
              </a:extLst>
            </p:cNvPr>
            <p:cNvSpPr txBox="1"/>
            <p:nvPr/>
          </p:nvSpPr>
          <p:spPr>
            <a:xfrm>
              <a:off x="6010362" y="635628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id="{5F0AA7B0-41DD-B4E0-87B5-4692EF6A96C5}"/>
                </a:ext>
              </a:extLst>
            </p:cNvPr>
            <p:cNvSpPr txBox="1"/>
            <p:nvPr/>
          </p:nvSpPr>
          <p:spPr>
            <a:xfrm>
              <a:off x="618761" y="81033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id="{CA2757B7-E4A3-749C-D03B-DE76D8933AB2}"/>
                </a:ext>
              </a:extLst>
            </p:cNvPr>
            <p:cNvSpPr txBox="1"/>
            <p:nvPr/>
          </p:nvSpPr>
          <p:spPr>
            <a:xfrm>
              <a:off x="1968150" y="810094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id="{91235EC8-27CA-BF43-DBC8-5DD41C54F3B2}"/>
                </a:ext>
              </a:extLst>
            </p:cNvPr>
            <p:cNvSpPr txBox="1"/>
            <p:nvPr/>
          </p:nvSpPr>
          <p:spPr>
            <a:xfrm>
              <a:off x="3307602" y="80991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60" name="Google Shape;60;p2">
              <a:extLst>
                <a:ext uri="{FF2B5EF4-FFF2-40B4-BE49-F238E27FC236}">
                  <a16:creationId xmlns:a16="http://schemas.microsoft.com/office/drawing/2014/main" id="{4B08D63E-EA01-830C-90F0-10634607E3DB}"/>
                </a:ext>
              </a:extLst>
            </p:cNvPr>
            <p:cNvSpPr txBox="1"/>
            <p:nvPr/>
          </p:nvSpPr>
          <p:spPr>
            <a:xfrm>
              <a:off x="4658416" y="80991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61" name="Google Shape;61;p2">
              <a:extLst>
                <a:ext uri="{FF2B5EF4-FFF2-40B4-BE49-F238E27FC236}">
                  <a16:creationId xmlns:a16="http://schemas.microsoft.com/office/drawing/2014/main" id="{8E15E237-9B95-F270-DB4D-CED0A37C056F}"/>
                </a:ext>
              </a:extLst>
            </p:cNvPr>
            <p:cNvSpPr txBox="1"/>
            <p:nvPr/>
          </p:nvSpPr>
          <p:spPr>
            <a:xfrm>
              <a:off x="6011120" y="80967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30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3" name="Google Shape;64;p2">
            <a:extLst>
              <a:ext uri="{FF2B5EF4-FFF2-40B4-BE49-F238E27FC236}">
                <a16:creationId xmlns:a16="http://schemas.microsoft.com/office/drawing/2014/main" id="{01FB386B-271F-A817-75B5-933530756B0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4" name="Google Shape;65;p2">
              <a:extLst>
                <a:ext uri="{FF2B5EF4-FFF2-40B4-BE49-F238E27FC236}">
                  <a16:creationId xmlns:a16="http://schemas.microsoft.com/office/drawing/2014/main" id="{86FF7BF9-15AF-9E07-4248-9F47F4413DC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2D5F2B69-9F89-F4B8-4805-627F46B6E1B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CCB62724-4BFC-8E91-5AAB-ABCE6E84043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ED43A1DA-4A92-3B29-4F6A-9D87228501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851152C0-F975-B45B-1EA1-5BC499FD824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C3DC025C-15D9-533A-5F4A-A567C3A4E9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6BB4609-6B62-001F-7597-48C0CE2D8F8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D0BEC541-1DE3-B71C-834A-F0B282ADF50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B6584083-F53D-059C-7B98-C2860747F62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2F226531-0BF2-3BEA-5768-BD7A17B434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8127D34E-0997-04D1-F10D-77736638A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E603CD86-6B5E-D00E-5BE7-68B78C3108B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68470026-2627-C294-0226-502F39A2CD5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D6053ACB-A2F1-9A81-ADFD-E4E0F7FB7EC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6668A9CD-897A-DB99-7538-DC32E09E00F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1CC10D95-A7A2-DB16-50A2-BD7B4C5AD46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id="{D40CB646-D81F-9267-FC04-CB245A8B25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0030DB3-4FA9-1F2A-FEFD-7CF795E529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B755BAD3-FBDD-BDD0-2962-31C7DB2128E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D7D92EF8-44D8-6D82-3537-C0DF602EED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DAED767-92E3-DFFB-C7F6-9BCB08ED11C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99D1138F-495A-9783-BDD8-7FA64F5685A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063A9346-369C-FA78-56C9-6B5C5017D6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7E03D4DA-5DAA-14CE-C180-87B1B79388A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0AD78CBC-11A6-43BA-6EDB-F127467E2E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BCAB3DEC-1292-1EE3-46F4-98FC8A98FBB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8AB09736-CB0A-6AF8-0F77-9398C2C6E6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92;p2">
              <a:extLst>
                <a:ext uri="{FF2B5EF4-FFF2-40B4-BE49-F238E27FC236}">
                  <a16:creationId xmlns:a16="http://schemas.microsoft.com/office/drawing/2014/main" id="{DACF3075-FFC4-0089-91C3-4C17C1CC57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2BA23D20-CB45-9833-6FD7-0D84B6CEA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99534736-C232-2680-22CA-F4AB7E528AD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AA01FB2A-0417-D43D-2AC1-B0C902A9CF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213158AC-5ABB-B92B-262D-3C31B54A21E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4BAEEB1C-4F4C-CCFC-B2E2-B5FBE83D41F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6391546F-7BAB-F4E7-90A5-71029C9022C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5FDD155D-A8A1-D1EE-DDB0-4107B033544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85F6BB9C-DD83-8ABB-FDDB-8C02D286B7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B170A80-4896-2EF7-06D4-ABF357F672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CEBDBDBA-4553-1389-E205-A9245EBA25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45B73E07-0EA8-BA4A-373B-8934B599777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0AFC6F6E-C3E4-BAF6-64CC-4818815005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330443C5-2FBC-09BF-1C92-FE6B5E9C5E0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F1A6AD3-9BD4-F618-519B-62302E8495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C16CA14-6E4E-E8EB-8D4A-332C424155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B85CEE91-C406-8921-8C14-74B06623B0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15E61038-BB3E-919C-FA7A-8C4B07A73F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E4448DB7-B80E-30D7-F5F3-999EEEED15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4B34A99E-E6D7-B327-EC69-86A3D3F04F4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12;p2">
              <a:extLst>
                <a:ext uri="{FF2B5EF4-FFF2-40B4-BE49-F238E27FC236}">
                  <a16:creationId xmlns:a16="http://schemas.microsoft.com/office/drawing/2014/main" id="{57482840-218C-6406-4856-4019970AB08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797DED7A-84EF-7A1B-2302-CFF49D99BD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3DDB75E2-424F-9C6B-8FF4-D415A678298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BFF2DA01-EF7A-3656-BB65-15E23B0FC5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07C0D283-3DA6-ABD2-82C2-3C5958F0F0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580AD690-8F11-319D-7B58-015D3BD1311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2988F25E-394C-8288-2AA6-CAA9B504444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B442D486-B42D-DF80-9F01-CC0EF7A5F97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5C6820BA-65B7-7AF3-D1F4-4DDA9B0C4CC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0DE6AC02-68C2-AD68-2A06-BF59C0CA24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00B0943A-D7D2-3DBA-E886-D98E339A5F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A1841314-34E6-454A-9090-646C21BDF8B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7B7DE37-A8EF-AD2C-199C-803D849AD10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F0E82A24-28D2-F366-2855-5ED7774396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C9FAC4FE-FB1B-9B51-BDB6-AC9285EE60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AE6867FE-FB5C-049A-7A44-ABA4724ACEA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28;p2">
              <a:extLst>
                <a:ext uri="{FF2B5EF4-FFF2-40B4-BE49-F238E27FC236}">
                  <a16:creationId xmlns:a16="http://schemas.microsoft.com/office/drawing/2014/main" id="{8329AE0F-7E4F-B8CF-8D11-048D9030A0F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007A3FFE-B7E2-8375-9780-26FD1DE391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4C78AA-B92F-F1BA-9021-188FAF8BC4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876AE43F-4854-72AA-E34B-E4CA49E6D5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856D2195-DC0A-1ADF-F6F2-35546FCF6C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45473D2-FB7B-AA86-D21B-384EFA65EED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DBAF2974-E388-F264-1599-52BE6C51300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5B1289B-2834-31FC-65D2-7F33CA2DB19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136;p2">
              <a:extLst>
                <a:ext uri="{FF2B5EF4-FFF2-40B4-BE49-F238E27FC236}">
                  <a16:creationId xmlns:a16="http://schemas.microsoft.com/office/drawing/2014/main" id="{E62F016C-C2F5-103A-3DD0-1ADC1B4F65B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689396AA-90DF-630F-E051-6FDB2529CF7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6A1030CC-085F-0CCC-8E09-5D3308176B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0FE061F4-FC18-9916-3564-C5DDA765CA3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09801D96-A394-6720-7CF3-B431E5987C4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CECD3A2B-A673-5A99-76EF-316384F53A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0937263E-8391-B0F6-CF4B-2DD7BF48D02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2DAE30DF-871C-3D64-7907-228684DF78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44;p2">
              <a:extLst>
                <a:ext uri="{FF2B5EF4-FFF2-40B4-BE49-F238E27FC236}">
                  <a16:creationId xmlns:a16="http://schemas.microsoft.com/office/drawing/2014/main" id="{41DCEDE5-4D14-1C85-08B0-891C160C01D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5F91D5A0-2CF9-2476-FD31-3AF3F736516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84F480D7-6448-46FE-0262-6E69240E4F3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9AD36D21-177A-7150-CEE3-A49A30C058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FB9D0BEC-9BAB-1E08-F8A3-78D383EE6C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8C424AB4-23A1-0C44-5852-0C728F00C00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CA8DCE30-2BA5-09AA-9675-48376E8D82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A1023A54-839F-50D1-BD31-A5ECBD5CC9A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311D3FC9-46D9-B2E8-430B-5F2B3FA40D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3A150521-3664-C0F0-881C-14A4CB23C7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B9884CBF-A31F-C239-6C61-429B6BBFD9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55;p2">
              <a:extLst>
                <a:ext uri="{FF2B5EF4-FFF2-40B4-BE49-F238E27FC236}">
                  <a16:creationId xmlns:a16="http://schemas.microsoft.com/office/drawing/2014/main" id="{6133E80D-3CFF-7F6F-E090-2D8EA0989B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B506A47A-49C4-C5DE-3222-80871EBB65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1914FC07-5569-9BFB-08C0-FC43F75EB3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1DC77814-B71A-6A26-094F-5591054A70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85A39045-C626-6B16-64E1-3E655982FA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5389D781-F504-0A69-37D7-59DB896E6A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73BCB397-10B3-12CA-A586-EB528D00D8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B393E305-F3B0-2C5D-32B6-2F03E9A323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810C8C6D-0439-9429-A8A6-CDC9A8A2DA1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B5D84A4E-1E54-D3AA-E36E-9BAC9E43E3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290AE19F-DAF7-F293-8E00-74E4E975D71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pic>
        <p:nvPicPr>
          <p:cNvPr id="6" name="그래픽 5">
            <a:extLst>
              <a:ext uri="{FF2B5EF4-FFF2-40B4-BE49-F238E27FC236}">
                <a16:creationId xmlns:a16="http://schemas.microsoft.com/office/drawing/2014/main" id="{F15849A7-05CF-B666-7A97-3ABDA13B4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901006" y="1861098"/>
            <a:ext cx="886962" cy="654637"/>
          </a:xfrm>
          <a:prstGeom prst="rect">
            <a:avLst/>
          </a:prstGeom>
        </p:spPr>
      </p:pic>
      <p:grpSp>
        <p:nvGrpSpPr>
          <p:cNvPr id="29" name="그룹 2">
            <a:extLst>
              <a:ext uri="{FF2B5EF4-FFF2-40B4-BE49-F238E27FC236}">
                <a16:creationId xmlns:a16="http://schemas.microsoft.com/office/drawing/2014/main" id="{E8E41725-938A-ED70-2E69-B6FBC9EFABFE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388F9B70-3174-03D0-AF4D-4B1038672497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833E13F2-DB3D-784C-65D3-38E856C8A649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1E18AC9D-07BE-F7E2-4EE2-C1513D73DAEF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9E73F681-0356-9C45-B711-BA9E629048A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5;p2">
              <a:extLst>
                <a:ext uri="{FF2B5EF4-FFF2-40B4-BE49-F238E27FC236}">
                  <a16:creationId xmlns:a16="http://schemas.microsoft.com/office/drawing/2014/main" id="{98B806D3-814C-0CDB-9C7B-A265CE1E53B9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6;p2">
              <a:extLst>
                <a:ext uri="{FF2B5EF4-FFF2-40B4-BE49-F238E27FC236}">
                  <a16:creationId xmlns:a16="http://schemas.microsoft.com/office/drawing/2014/main" id="{046DE3AA-E1A1-205D-C477-D36794275278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29;p2">
              <a:extLst>
                <a:ext uri="{FF2B5EF4-FFF2-40B4-BE49-F238E27FC236}">
                  <a16:creationId xmlns:a16="http://schemas.microsoft.com/office/drawing/2014/main" id="{12B4FFA5-9BB6-DC2E-A5AD-6AD5640EE7DE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2;p2">
              <a:extLst>
                <a:ext uri="{FF2B5EF4-FFF2-40B4-BE49-F238E27FC236}">
                  <a16:creationId xmlns:a16="http://schemas.microsoft.com/office/drawing/2014/main" id="{0E3441C8-0BFA-14E7-CDF2-0139C7182E0B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35;p2">
              <a:extLst>
                <a:ext uri="{FF2B5EF4-FFF2-40B4-BE49-F238E27FC236}">
                  <a16:creationId xmlns:a16="http://schemas.microsoft.com/office/drawing/2014/main" id="{0A3E80C6-A7CD-6D5D-7E10-C50BC19E45FC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4" name="Google Shape;63;p2">
              <a:extLst>
                <a:ext uri="{FF2B5EF4-FFF2-40B4-BE49-F238E27FC236}">
                  <a16:creationId xmlns:a16="http://schemas.microsoft.com/office/drawing/2014/main" id="{C87CD128-81D9-95CC-A0F9-0E97B6442BA4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55" name="Google Shape;21;p2">
            <a:extLst>
              <a:ext uri="{FF2B5EF4-FFF2-40B4-BE49-F238E27FC236}">
                <a16:creationId xmlns:a16="http://schemas.microsoft.com/office/drawing/2014/main" id="{D4A2A8E0-67B2-2848-F2B8-E27B7588EF46}"/>
              </a:ext>
            </a:extLst>
          </p:cNvPr>
          <p:cNvSpPr txBox="1"/>
          <p:nvPr/>
        </p:nvSpPr>
        <p:spPr>
          <a:xfrm>
            <a:off x="6010362" y="641773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POLY</a:t>
            </a:r>
            <a:endParaRPr sz="1200" b="1" u="none" strike="noStrike" cap="none" dirty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3C9DDEA9-58B3-A0F0-E004-72B346577B30}"/>
              </a:ext>
            </a:extLst>
          </p:cNvPr>
          <p:cNvGrpSpPr/>
          <p:nvPr/>
        </p:nvGrpSpPr>
        <p:grpSpPr>
          <a:xfrm>
            <a:off x="195580" y="10071624"/>
            <a:ext cx="7229262" cy="472916"/>
            <a:chOff x="347980" y="10188378"/>
            <a:chExt cx="7229262" cy="472916"/>
          </a:xfrm>
        </p:grpSpPr>
        <p:sp>
          <p:nvSpPr>
            <p:cNvPr id="167" name="Google Shape;19;p2">
              <a:extLst>
                <a:ext uri="{FF2B5EF4-FFF2-40B4-BE49-F238E27FC236}">
                  <a16:creationId xmlns:a16="http://schemas.microsoft.com/office/drawing/2014/main" id="{C59AD6AC-F500-127C-5D2E-EB3BE380DA55}"/>
                </a:ext>
              </a:extLst>
            </p:cNvPr>
            <p:cNvSpPr/>
            <p:nvPr/>
          </p:nvSpPr>
          <p:spPr>
            <a:xfrm>
              <a:off x="347980" y="10230407"/>
              <a:ext cx="6022340" cy="430887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*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원산지표시안내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: 쌀(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국내산유기농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현미,흑미,찹쌀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국내산친환경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소(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국내산육우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돼지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닭(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오리고기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두부,콩비지,콩국수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(콩-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배추김치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배추-국내산,고춧가루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-국내산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삼치,아귀,오징어,고등어,꽃게,패류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새우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베트남산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명태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러시아산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참치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원양산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가다랭이포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인도네시아산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 </a:t>
              </a:r>
            </a:p>
            <a:p>
              <a:pPr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①난류 ②우유③메밀 ④땅콩⑤대두 ⑥밀 ⑦고등어 ⑧게⑨새우 ⑩돼지고기 ⑪복숭아 ⑫토마토 ⑬</a:t>
              </a:r>
              <a:r>
                <a:rPr lang="ko-KR" altLang="en-US" sz="700" dirty="0" err="1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아황산류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 ⑭호두 ⑮닭고기 ⑯쇠고기 ⑰오징어 ⑱조개류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(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굴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,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전복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,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홍합포함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잣</a:t>
              </a:r>
              <a:endParaRPr lang="en-US" altLang="ko-KR" sz="700" dirty="0" smtClean="0">
                <a:solidFill>
                  <a:srgbClr val="FF0000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en-US" sz="700" u="none" strike="noStrike" cap="none" dirty="0" smtClean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*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위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식단은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식품수급에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따라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변경될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수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있습니다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.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I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u="none" strike="noStrike" cap="none" dirty="0" err="1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Kizmeal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000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영양사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I 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000000@ kizmeal.com I www. Kizmeal.com</a:t>
              </a:r>
              <a:endParaRPr sz="1200" dirty="0">
                <a:latin typeface="Pretendard" pitchFamily="50" charset="-127"/>
                <a:ea typeface="Pretendard" pitchFamily="50" charset="-127"/>
                <a:cs typeface="Pretendard" pitchFamily="50" charset="-127"/>
              </a:endParaRPr>
            </a:p>
          </p:txBody>
        </p:sp>
        <p:pic>
          <p:nvPicPr>
            <p:cNvPr id="168" name="그래픽 118">
              <a:extLst>
                <a:ext uri="{FF2B5EF4-FFF2-40B4-BE49-F238E27FC236}">
                  <a16:creationId xmlns:a16="http://schemas.microsoft.com/office/drawing/2014/main" id="{7F1B4C3B-45A1-BB15-145F-19D4E677AD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3944" y="10188378"/>
              <a:ext cx="1173298" cy="27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9" name="TextBox 168"/>
          <p:cNvSpPr txBox="1"/>
          <p:nvPr/>
        </p:nvSpPr>
        <p:spPr>
          <a:xfrm>
            <a:off x="684752" y="1194613"/>
            <a:ext cx="1318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en-US" altLang="ko-KR" sz="1100" dirty="0">
                <a:solidFill>
                  <a:srgbClr val="146152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1</a:t>
            </a:r>
            <a:r>
              <a:rPr lang="ko-KR" altLang="en-US" sz="1100" dirty="0" smtClean="0">
                <a:solidFill>
                  <a:srgbClr val="146152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월의 추천 식재료</a:t>
            </a:r>
            <a:endParaRPr lang="en-US" altLang="ko-KR" sz="1100" dirty="0">
              <a:latin typeface="Pretendard" pitchFamily="50" charset="-127"/>
              <a:ea typeface="Pretendard" pitchFamily="50" charset="-127"/>
              <a:cs typeface="Pretendard" pitchFamily="50" charset="-127"/>
            </a:endParaRPr>
          </a:p>
        </p:txBody>
      </p:sp>
      <p:pic>
        <p:nvPicPr>
          <p:cNvPr id="171" name="그림 17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302" y="1324886"/>
            <a:ext cx="1258576" cy="755219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313" y="1188652"/>
            <a:ext cx="1384149" cy="110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8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1300</Words>
  <Application>Microsoft Office PowerPoint</Application>
  <PresentationFormat>사용자 지정</PresentationFormat>
  <Paragraphs>299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OLDWEST</vt:lpstr>
      <vt:lpstr>Pretendard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cp:lastModifiedBy>km-co01</cp:lastModifiedBy>
  <cp:revision>82</cp:revision>
  <dcterms:modified xsi:type="dcterms:W3CDTF">2025-11-28T03:25:25Z</dcterms:modified>
</cp:coreProperties>
</file>